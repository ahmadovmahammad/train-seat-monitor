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DB56DF-E53A-43D4-9492-00591F0EDC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F2ACA6-B0C5-4518-9AA8-F40386ED44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5E6A21-5690-4064-9079-52AD39EA5B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AB5F35B-587E-4B58-9C3B-924013133A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0907155-0497-4866-8587-7EC478D6C6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A43DF2-DCD8-4D64-ADC9-E9E947C623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CB1FDFB-7DF7-4FE7-AC86-0F0D8D4721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C5D90AC-7AD8-4DDD-85C6-EFB1D46AE43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87172DC-CF9E-4759-A0A4-5531C52EAF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7AC2AF1-1C74-43B8-90D0-6219EBC9E3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EC4E4EB-BDFE-46EE-B15E-F5D042685C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3FC5916-88FA-487F-B67A-957E74E161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A8C8467-3742-4089-926D-011CFF5633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0B346E8-9C0F-46F3-9591-EBA989211D7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A03CA1B-A248-4557-B422-87ADDD9B70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1D56CDB-D10C-4F73-8869-72F251C2157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7CBF88-97E7-47EC-B3C8-5E7D2642FF2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04A5BF0-605B-42FF-AE27-416FE0E5D0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6C72FDA-215C-45C2-ACBB-CBFDE4980C1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CA1196C-1D65-42B4-86B2-4C0CE8971D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81B327B-80A6-439F-8DB7-745E7BA1AD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2106D40-FE14-4C1A-946D-D417884247F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914400" y="2011680"/>
            <a:ext cx="10359360" cy="16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5200" spc="-1" strike="noStrike">
                <a:solidFill>
                  <a:srgbClr val="0f172a"/>
                </a:solidFill>
                <a:latin typeface="Helvetica Neue"/>
              </a:rPr>
              <a:t>Big Data Pipelines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5200" spc="-1" strike="noStrike">
                <a:solidFill>
                  <a:srgbClr val="0f172a"/>
                </a:solidFill>
                <a:latin typeface="Helvetica Neue"/>
              </a:rPr>
              <a:t>for Computer Vision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914400" y="4206240"/>
            <a:ext cx="103593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Real-Time Processing of Video Streams  /  AZTU 2026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Mahammad Ahmadov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1"/>
          <p:cNvSpPr/>
          <p:nvPr/>
        </p:nvSpPr>
        <p:spPr>
          <a:xfrm>
            <a:off x="914400" y="731520"/>
            <a:ext cx="1035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64748b"/>
                </a:solidFill>
                <a:latin typeface="Helvetica Neue"/>
              </a:rPr>
              <a:t>cameras running simultaneously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2"/>
          <p:cNvSpPr/>
          <p:nvPr/>
        </p:nvSpPr>
        <p:spPr>
          <a:xfrm>
            <a:off x="914400" y="1554480"/>
            <a:ext cx="1035936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0" spc="-1" strike="noStrike">
                <a:solidFill>
                  <a:srgbClr val="0284c7"/>
                </a:solidFill>
                <a:latin typeface="Helvetica Neue"/>
              </a:rPr>
              <a:t>5,000</a:t>
            </a:r>
            <a:endParaRPr b="0" lang="en-US" sz="1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3"/>
          <p:cNvSpPr/>
          <p:nvPr/>
        </p:nvSpPr>
        <p:spPr>
          <a:xfrm>
            <a:off x="914400" y="4572000"/>
            <a:ext cx="10359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100 trains  x  5 wagons  x  10 cameras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1"/>
          <p:cNvSpPr/>
          <p:nvPr/>
        </p:nvSpPr>
        <p:spPr>
          <a:xfrm>
            <a:off x="1097280" y="2286000"/>
            <a:ext cx="99936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0f172a"/>
                </a:solidFill>
                <a:latin typeface="Helvetica Neue"/>
              </a:rPr>
              <a:t>Raw video transfer is impossible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0f172a"/>
                </a:solidFill>
                <a:latin typeface="Helvetica Neue"/>
              </a:rPr>
              <a:t>at this scale.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2"/>
          <p:cNvSpPr/>
          <p:nvPr/>
        </p:nvSpPr>
        <p:spPr>
          <a:xfrm>
            <a:off x="1097280" y="4297680"/>
            <a:ext cx="9993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150 KB per frame  x  15 fps  x  5,000 cameras  =  11 GB/s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1"/>
          <p:cNvSpPr/>
          <p:nvPr/>
        </p:nvSpPr>
        <p:spPr>
          <a:xfrm>
            <a:off x="1097280" y="2286000"/>
            <a:ext cx="99936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16a34a"/>
                </a:solidFill>
                <a:latin typeface="Helvetica Neue"/>
              </a:rPr>
              <a:t>Don't send video.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16a34a"/>
                </a:solidFill>
                <a:latin typeface="Helvetica Neue"/>
              </a:rPr>
              <a:t>Send decisions.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2"/>
          <p:cNvSpPr/>
          <p:nvPr/>
        </p:nvSpPr>
        <p:spPr>
          <a:xfrm>
            <a:off x="1097280" y="4297680"/>
            <a:ext cx="99936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100 bytes per event instead of 150 KB per frame.  Two orders of magnitude.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731520" y="365760"/>
            <a:ext cx="10725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Pipeline Overview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0" name="Connector 2"/>
          <p:cNvCxnSpPr/>
          <p:nvPr/>
        </p:nvCxnSpPr>
        <p:spPr>
          <a:xfrm>
            <a:off x="731520" y="118872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61" name="TextBox 3"/>
          <p:cNvSpPr/>
          <p:nvPr/>
        </p:nvSpPr>
        <p:spPr>
          <a:xfrm>
            <a:off x="4834800" y="1325880"/>
            <a:ext cx="2491200" cy="240516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Camera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Frame Skip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ROI Crop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YOLO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RabbitMQ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.NET API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SSE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Browser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731520" y="5760720"/>
            <a:ext cx="10725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700" spc="-1" strike="noStrike">
                <a:solidFill>
                  <a:srgbClr val="64748b"/>
                </a:solidFill>
                <a:latin typeface="Helvetica Neue"/>
              </a:rPr>
              <a:t>Each step reduces data volume before passing it to the next.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1097280" y="2286000"/>
            <a:ext cx="99936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0f172a"/>
                </a:solidFill>
                <a:latin typeface="Helvetica Neue"/>
              </a:rPr>
              <a:t>Processing runs on the edge device.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1097280" y="4297680"/>
            <a:ext cx="9993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Server never sees a single video frame.  Only state change events arrive.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14400" y="731520"/>
            <a:ext cx="1035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64748b"/>
                </a:solidFill>
                <a:latin typeface="Helvetica Neue"/>
              </a:rPr>
              <a:t>of frames are skipped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914400" y="1554480"/>
            <a:ext cx="1035936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0" spc="-1" strike="noStrike">
                <a:solidFill>
                  <a:srgbClr val="d97706"/>
                </a:solidFill>
                <a:latin typeface="Helvetica Neue"/>
              </a:rPr>
              <a:t>4 out of 5</a:t>
            </a:r>
            <a:endParaRPr b="0" lang="en-US" sz="1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914400" y="4572000"/>
            <a:ext cx="103593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Seat occupancy does not change in 300ms.  No meaningful information is lost.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731520" y="457200"/>
            <a:ext cx="10725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0f172a"/>
                </a:solidFill>
                <a:latin typeface="Helvetica Neue"/>
              </a:rPr>
              <a:t>ROI: Region of Interest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9" name="Connector 2"/>
          <p:cNvCxnSpPr/>
          <p:nvPr/>
        </p:nvCxnSpPr>
        <p:spPr>
          <a:xfrm>
            <a:off x="731520" y="14630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70" name="TextBox 3"/>
          <p:cNvSpPr/>
          <p:nvPr/>
        </p:nvSpPr>
        <p:spPr>
          <a:xfrm>
            <a:off x="731520" y="1645920"/>
            <a:ext cx="10725120" cy="21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Each seat has a bounding box defined in config.json.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Before running YOLO, the frame is cropped to that region only.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Result: YOLO processes a small patch, not the full 1080p image.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Inference is faster. False positives from outside the seat are eliminated.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731520" y="457200"/>
            <a:ext cx="10725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0f172a"/>
                </a:solidFill>
                <a:latin typeface="Helvetica Neue"/>
              </a:rPr>
              <a:t>YOLOv8n: Person Detection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2" name="Connector 2"/>
          <p:cNvCxnSpPr/>
          <p:nvPr/>
        </p:nvCxnSpPr>
        <p:spPr>
          <a:xfrm>
            <a:off x="731520" y="14630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73" name="TextBox 3"/>
          <p:cNvSpPr/>
          <p:nvPr/>
        </p:nvSpPr>
        <p:spPr>
          <a:xfrm>
            <a:off x="731520" y="1645920"/>
            <a:ext cx="10725120" cy="21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Nano variant of YOLOv8. Smallest and fastest in the family.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Detects a single class: person.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Runs on CPU. No dedicated GPU required per edge device.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64748b"/>
                </a:solidFill>
                <a:latin typeface="Helvetica Neue"/>
              </a:rPr>
              <a:t>If a person is detected inside the ROI, the seat is marked occupied.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731520" y="365760"/>
            <a:ext cx="10725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Change-Only Publish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Connector 2"/>
          <p:cNvCxnSpPr/>
          <p:nvPr/>
        </p:nvCxnSpPr>
        <p:spPr>
          <a:xfrm>
            <a:off x="731520" y="118872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76" name="TextBox 3"/>
          <p:cNvSpPr/>
          <p:nvPr/>
        </p:nvSpPr>
        <p:spPr>
          <a:xfrm>
            <a:off x="3606480" y="1325880"/>
            <a:ext cx="4947840" cy="12474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free      -&gt;  occupied    publish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occupied  -&gt;  free        publish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occupied  -&gt;  occupied    skip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free      -&gt;  free        skip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731520" y="5760720"/>
            <a:ext cx="10725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700" spc="-1" strike="noStrike">
                <a:solidFill>
                  <a:srgbClr val="64748b"/>
                </a:solidFill>
                <a:latin typeface="Helvetica Neue"/>
              </a:rPr>
              <a:t>An event is sent only when the status changes.  The queue stays clean.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731520" y="365760"/>
            <a:ext cx="10725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Why Python + .NET?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9" name="Connector 2"/>
          <p:cNvCxnSpPr/>
          <p:nvPr/>
        </p:nvCxnSpPr>
        <p:spPr>
          <a:xfrm>
            <a:off x="731520" y="12344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80" name="TextBox 3"/>
          <p:cNvSpPr/>
          <p:nvPr/>
        </p:nvSpPr>
        <p:spPr>
          <a:xfrm>
            <a:off x="731520" y="1371600"/>
            <a:ext cx="502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0284c7"/>
                </a:solidFill>
                <a:latin typeface="Helvetica Neue"/>
              </a:rPr>
              <a:t>Python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6400800" y="1371600"/>
            <a:ext cx="502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0284c7"/>
                </a:solidFill>
                <a:latin typeface="Helvetica Neue"/>
              </a:rPr>
              <a:t>.NET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731520" y="219456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OpenCV, Ultralytics YOLO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731520" y="297180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The CV/ML ecosystem lives here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731520" y="3749040"/>
            <a:ext cx="5028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Multiprocessing: one process per camera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731520" y="452628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Bypasses GIL, true parallelism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6400800" y="219456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High-concurrency async/await runtime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6400800" y="2971800"/>
            <a:ext cx="5028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BackgroundService for queue consumption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6400800" y="374904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Channel&lt;T&gt;: built-in async message bus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6400800" y="4526280"/>
            <a:ext cx="50284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64748b"/>
                </a:solidFill>
                <a:latin typeface="Helvetica Neue"/>
              </a:rPr>
              <a:t>Strongly typed, fast System.Text.Json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731520" y="457200"/>
            <a:ext cx="10725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0f172a"/>
                </a:solidFill>
                <a:latin typeface="Helvetica Neue"/>
              </a:rPr>
              <a:t>Why keep them separate?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1" name="Connector 2"/>
          <p:cNvCxnSpPr/>
          <p:nvPr/>
        </p:nvCxnSpPr>
        <p:spPr>
          <a:xfrm>
            <a:off x="731520" y="14630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92" name="TextBox 3"/>
          <p:cNvSpPr/>
          <p:nvPr/>
        </p:nvSpPr>
        <p:spPr>
          <a:xfrm>
            <a:off x="731520" y="1645920"/>
            <a:ext cx="10725120" cy="27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Python runs on the edge device (camera side).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.NET runs on the backend server.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They are decoupled via RabbitMQ.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Each side can be scaled, deployed, and updated independently.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If the API goes down, messages wait in the queue.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When it comes back up, nothing is lost.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1097280" y="2286000"/>
            <a:ext cx="99936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0f172a"/>
                </a:solidFill>
                <a:latin typeface="Helvetica Neue"/>
              </a:rPr>
              <a:t>RabbitMQ sits between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0f172a"/>
                </a:solidFill>
                <a:latin typeface="Helvetica Neue"/>
              </a:rPr>
              <a:t>producer and consumer.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1097280" y="4297680"/>
            <a:ext cx="9993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Producer does not know who reads.  Consumer does not know who wrote.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457200" y="274320"/>
            <a:ext cx="112737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Why RabbitMQ and not Kafka or Redis?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6" name="Connector 2"/>
          <p:cNvCxnSpPr/>
          <p:nvPr/>
        </p:nvCxnSpPr>
        <p:spPr>
          <a:xfrm>
            <a:off x="731520" y="109728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97" name="TextBox 3"/>
          <p:cNvSpPr/>
          <p:nvPr/>
        </p:nvSpPr>
        <p:spPr>
          <a:xfrm>
            <a:off x="640080" y="1188720"/>
            <a:ext cx="26967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3337560" y="11887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RabbitMQ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6035040" y="11887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Kafka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8732520" y="11887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Redis Pub/Sub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640080" y="192024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Message durability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3337560" y="192024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9"/>
          <p:cNvSpPr/>
          <p:nvPr/>
        </p:nvSpPr>
        <p:spPr>
          <a:xfrm>
            <a:off x="6035040" y="192024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8732520" y="192024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640080" y="274320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Simple setup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2"/>
          <p:cNvSpPr/>
          <p:nvPr/>
        </p:nvSpPr>
        <p:spPr>
          <a:xfrm>
            <a:off x="3337560" y="274320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13"/>
          <p:cNvSpPr/>
          <p:nvPr/>
        </p:nvSpPr>
        <p:spPr>
          <a:xfrm>
            <a:off x="6035040" y="274320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4"/>
          <p:cNvSpPr/>
          <p:nvPr/>
        </p:nvSpPr>
        <p:spPr>
          <a:xfrm>
            <a:off x="8732520" y="274320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5"/>
          <p:cNvSpPr/>
          <p:nvPr/>
        </p:nvSpPr>
        <p:spPr>
          <a:xfrm>
            <a:off x="640080" y="356616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Message replay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16"/>
          <p:cNvSpPr/>
          <p:nvPr/>
        </p:nvSpPr>
        <p:spPr>
          <a:xfrm>
            <a:off x="3337560" y="356616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6035040" y="356616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8"/>
          <p:cNvSpPr/>
          <p:nvPr/>
        </p:nvSpPr>
        <p:spPr>
          <a:xfrm>
            <a:off x="8732520" y="356616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9"/>
          <p:cNvSpPr/>
          <p:nvPr/>
        </p:nvSpPr>
        <p:spPr>
          <a:xfrm>
            <a:off x="640080" y="43891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Fit for our use case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20"/>
          <p:cNvSpPr/>
          <p:nvPr/>
        </p:nvSpPr>
        <p:spPr>
          <a:xfrm>
            <a:off x="3337560" y="43891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21"/>
          <p:cNvSpPr/>
          <p:nvPr/>
        </p:nvSpPr>
        <p:spPr>
          <a:xfrm>
            <a:off x="6035040" y="43891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overkill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2"/>
          <p:cNvSpPr/>
          <p:nvPr/>
        </p:nvSpPr>
        <p:spPr>
          <a:xfrm>
            <a:off x="8732520" y="4389120"/>
            <a:ext cx="26967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not durable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3"/>
          <p:cNvSpPr/>
          <p:nvPr/>
        </p:nvSpPr>
        <p:spPr>
          <a:xfrm>
            <a:off x="640080" y="6035040"/>
            <a:ext cx="10972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pc="-1" strike="noStrike">
                <a:solidFill>
                  <a:srgbClr val="cbd5e1"/>
                </a:solidFill>
                <a:latin typeface="Helvetica Neue"/>
              </a:rPr>
              <a:t>Kafka is designed for replay and stream processing at massive scale.  We need delivery guarantee, not replay.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731520" y="365760"/>
            <a:ext cx="10725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0f172a"/>
                </a:solidFill>
                <a:latin typeface="Helvetica Neue"/>
              </a:rPr>
              <a:t>Queue Design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9" name="Connector 2"/>
          <p:cNvCxnSpPr/>
          <p:nvPr/>
        </p:nvCxnSpPr>
        <p:spPr>
          <a:xfrm>
            <a:off x="731520" y="128016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20" name="TextBox 3"/>
          <p:cNvSpPr/>
          <p:nvPr/>
        </p:nvSpPr>
        <p:spPr>
          <a:xfrm>
            <a:off x="731520" y="1371600"/>
            <a:ext cx="1072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800" spc="-1" strike="noStrike">
                <a:solidFill>
                  <a:srgbClr val="64748b"/>
                </a:solidFill>
                <a:latin typeface="Helvetica Neue"/>
              </a:rPr>
              <a:t>passenger-seat queue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914400" y="2011680"/>
            <a:ext cx="10240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16a34a"/>
                </a:solidFill>
                <a:latin typeface="Helvetica Neue"/>
              </a:rPr>
              <a:t>type: quorum   /   replicated across nodes, survives a node failure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914400" y="2816280"/>
            <a:ext cx="10240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16a34a"/>
                </a:solidFill>
                <a:latin typeface="Helvetica Neue"/>
              </a:rPr>
              <a:t>durable: true   /   survives a broker restart, messages are not lost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731520" y="365760"/>
            <a:ext cx="10725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In-Process Message Bus: Channel&lt;T&gt;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4" name="Connector 2"/>
          <p:cNvCxnSpPr/>
          <p:nvPr/>
        </p:nvCxnSpPr>
        <p:spPr>
          <a:xfrm>
            <a:off x="731520" y="118872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25" name="TextBox 3"/>
          <p:cNvSpPr/>
          <p:nvPr/>
        </p:nvSpPr>
        <p:spPr>
          <a:xfrm>
            <a:off x="2956320" y="1325880"/>
            <a:ext cx="6247800" cy="153684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RabbitMQ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BackgroundService  (consumer thread)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SeatEventBus.Publish()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Channel&lt;T&gt;  per SSE connection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-&gt;  Browser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4"/>
          <p:cNvSpPr/>
          <p:nvPr/>
        </p:nvSpPr>
        <p:spPr>
          <a:xfrm>
            <a:off x="731520" y="5760720"/>
            <a:ext cx="10725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700" spc="-1" strike="noStrike">
                <a:solidFill>
                  <a:srgbClr val="64748b"/>
                </a:solidFill>
                <a:latin typeface="Helvetica Neue"/>
              </a:rPr>
              <a:t>Consumer thread writes.  HTTP request thread reads.  Channel&lt;T&gt; is the thread-safe bridge between them.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731520" y="457200"/>
            <a:ext cx="10725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0f172a"/>
                </a:solidFill>
                <a:latin typeface="Helvetica Neue"/>
              </a:rPr>
              <a:t>Why Server-Sent Events?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8" name="Connector 2"/>
          <p:cNvCxnSpPr/>
          <p:nvPr/>
        </p:nvCxnSpPr>
        <p:spPr>
          <a:xfrm>
            <a:off x="731520" y="14630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29" name="TextBox 3"/>
          <p:cNvSpPr/>
          <p:nvPr/>
        </p:nvSpPr>
        <p:spPr>
          <a:xfrm>
            <a:off x="731520" y="1645920"/>
            <a:ext cx="10725120" cy="31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Our data flows in one direction only: server to browser.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SSE is built for exactly this.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The browser has native EventSource support.  No library needed.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Reconnects automatically if the connection drops.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SignalR and WebSocket add bidirectional protocol overhead we simply do not need.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"/>
          <p:cNvSpPr/>
          <p:nvPr/>
        </p:nvSpPr>
        <p:spPr>
          <a:xfrm>
            <a:off x="457200" y="274320"/>
            <a:ext cx="112737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SSE vs Alternatives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1" name="Connector 2"/>
          <p:cNvCxnSpPr/>
          <p:nvPr/>
        </p:nvCxnSpPr>
        <p:spPr>
          <a:xfrm>
            <a:off x="731520" y="109728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32" name="TextBox 3"/>
          <p:cNvSpPr/>
          <p:nvPr/>
        </p:nvSpPr>
        <p:spPr>
          <a:xfrm>
            <a:off x="640080" y="1188720"/>
            <a:ext cx="2157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4"/>
          <p:cNvSpPr/>
          <p:nvPr/>
        </p:nvSpPr>
        <p:spPr>
          <a:xfrm>
            <a:off x="2797920" y="11887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Short Polling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4956120" y="11887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Long Polling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7113960" y="1188720"/>
            <a:ext cx="215712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WebSocket / SignalR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9272160" y="11887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284c7"/>
                </a:solidFill>
                <a:latin typeface="Helvetica Neue"/>
              </a:rPr>
              <a:t>SSE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8"/>
          <p:cNvSpPr/>
          <p:nvPr/>
        </p:nvSpPr>
        <p:spPr>
          <a:xfrm>
            <a:off x="640080" y="192024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Real-time push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9"/>
          <p:cNvSpPr/>
          <p:nvPr/>
        </p:nvSpPr>
        <p:spPr>
          <a:xfrm>
            <a:off x="2797920" y="192024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0"/>
          <p:cNvSpPr/>
          <p:nvPr/>
        </p:nvSpPr>
        <p:spPr>
          <a:xfrm>
            <a:off x="4956120" y="192024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partial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1"/>
          <p:cNvSpPr/>
          <p:nvPr/>
        </p:nvSpPr>
        <p:spPr>
          <a:xfrm>
            <a:off x="7113960" y="192024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12"/>
          <p:cNvSpPr/>
          <p:nvPr/>
        </p:nvSpPr>
        <p:spPr>
          <a:xfrm>
            <a:off x="9272160" y="192024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13"/>
          <p:cNvSpPr/>
          <p:nvPr/>
        </p:nvSpPr>
        <p:spPr>
          <a:xfrm>
            <a:off x="640080" y="274320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Two-way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4"/>
          <p:cNvSpPr/>
          <p:nvPr/>
        </p:nvSpPr>
        <p:spPr>
          <a:xfrm>
            <a:off x="2797920" y="274320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15"/>
          <p:cNvSpPr/>
          <p:nvPr/>
        </p:nvSpPr>
        <p:spPr>
          <a:xfrm>
            <a:off x="4956120" y="274320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16"/>
          <p:cNvSpPr/>
          <p:nvPr/>
        </p:nvSpPr>
        <p:spPr>
          <a:xfrm>
            <a:off x="7113960" y="274320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17"/>
          <p:cNvSpPr/>
          <p:nvPr/>
        </p:nvSpPr>
        <p:spPr>
          <a:xfrm>
            <a:off x="9272160" y="274320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18"/>
          <p:cNvSpPr/>
          <p:nvPr/>
        </p:nvSpPr>
        <p:spPr>
          <a:xfrm>
            <a:off x="640080" y="356616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Complexity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19"/>
          <p:cNvSpPr/>
          <p:nvPr/>
        </p:nvSpPr>
        <p:spPr>
          <a:xfrm>
            <a:off x="2797920" y="356616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low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20"/>
          <p:cNvSpPr/>
          <p:nvPr/>
        </p:nvSpPr>
        <p:spPr>
          <a:xfrm>
            <a:off x="4956120" y="356616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medium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7113960" y="356616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high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2"/>
          <p:cNvSpPr/>
          <p:nvPr/>
        </p:nvSpPr>
        <p:spPr>
          <a:xfrm>
            <a:off x="9272160" y="356616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low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23"/>
          <p:cNvSpPr/>
          <p:nvPr/>
        </p:nvSpPr>
        <p:spPr>
          <a:xfrm>
            <a:off x="640080" y="43891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0f172a"/>
                </a:solidFill>
                <a:latin typeface="Helvetica Neue"/>
              </a:rPr>
              <a:t>Fits our need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24"/>
          <p:cNvSpPr/>
          <p:nvPr/>
        </p:nvSpPr>
        <p:spPr>
          <a:xfrm>
            <a:off x="2797920" y="43891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5"/>
          <p:cNvSpPr/>
          <p:nvPr/>
        </p:nvSpPr>
        <p:spPr>
          <a:xfrm>
            <a:off x="4956120" y="43891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dc2626"/>
                </a:solidFill>
                <a:latin typeface="Helvetica Neue"/>
              </a:rPr>
              <a:t>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26"/>
          <p:cNvSpPr/>
          <p:nvPr/>
        </p:nvSpPr>
        <p:spPr>
          <a:xfrm>
            <a:off x="7113960" y="43891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64748b"/>
                </a:solidFill>
                <a:latin typeface="Helvetica Neue"/>
              </a:rPr>
              <a:t>overkill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27"/>
          <p:cNvSpPr/>
          <p:nvPr/>
        </p:nvSpPr>
        <p:spPr>
          <a:xfrm>
            <a:off x="9272160" y="4389120"/>
            <a:ext cx="2157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16a34a"/>
                </a:solidFill>
                <a:latin typeface="Helvetica Neue"/>
              </a:rPr>
              <a:t>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28"/>
          <p:cNvSpPr/>
          <p:nvPr/>
        </p:nvSpPr>
        <p:spPr>
          <a:xfrm>
            <a:off x="640080" y="6035040"/>
            <a:ext cx="10972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pc="-1" strike="noStrike">
                <a:solidFill>
                  <a:srgbClr val="cbd5e1"/>
                </a:solidFill>
                <a:latin typeface="Helvetica Neue"/>
              </a:rPr>
              <a:t>Short polling wastes requests.  Long polling is fragile.  WebSocket is two-way by design.  SSE is the right tool.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731520" y="457200"/>
            <a:ext cx="10725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0f172a"/>
                </a:solidFill>
                <a:latin typeface="Helvetica Neue"/>
              </a:rPr>
              <a:t>MOG2: an Alternative Approach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9" name="Connector 2"/>
          <p:cNvCxnSpPr/>
          <p:nvPr/>
        </p:nvCxnSpPr>
        <p:spPr>
          <a:xfrm>
            <a:off x="731520" y="146304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60" name="TextBox 3"/>
          <p:cNvSpPr/>
          <p:nvPr/>
        </p:nvSpPr>
        <p:spPr>
          <a:xfrm>
            <a:off x="731520" y="1645920"/>
            <a:ext cx="10725120" cy="29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Mixture of Gaussians 2 is an OpenCV background subtraction algorithm.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It compares each frame against a stored empty-seat image.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A significant pixel change means a person is present.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No model required.  No GPU.  Runs anywhere.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Tradeoff: sensitive to lighting changes and camera movement.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64748b"/>
                </a:solidFill>
                <a:latin typeface="Helvetica Neue"/>
              </a:rPr>
              <a:t>YOLO is more robust.  MOG2 is faster for stable, controlled environments.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731520" y="365760"/>
            <a:ext cx="10725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0f172a"/>
                </a:solidFill>
                <a:latin typeface="Helvetica Neue"/>
              </a:rPr>
              <a:t>What Could Be Improved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2" name="Connector 2"/>
          <p:cNvCxnSpPr/>
          <p:nvPr/>
        </p:nvCxnSpPr>
        <p:spPr>
          <a:xfrm>
            <a:off x="731520" y="128016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63" name="TextBox 3"/>
          <p:cNvSpPr/>
          <p:nvPr/>
        </p:nvSpPr>
        <p:spPr>
          <a:xfrm>
            <a:off x="914400" y="1463040"/>
            <a:ext cx="10240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284c7"/>
                </a:solidFill>
                <a:latin typeface="Helvetica Neue"/>
              </a:rPr>
              <a:t>Batch YOLO inference: process multiple crops in a single forward pass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914400" y="2267640"/>
            <a:ext cx="102405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284c7"/>
                </a:solidFill>
                <a:latin typeface="Helvetica Neue"/>
              </a:rPr>
              <a:t>CUDA acceleration: GPU-equipped edge devices reduce inference time significantly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914400" y="3072240"/>
            <a:ext cx="10240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284c7"/>
                </a:solidFill>
                <a:latin typeface="Helvetica Neue"/>
              </a:rPr>
              <a:t>MOG2 fallback: use background subtraction for cameras with stable lighting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914400" y="3877200"/>
            <a:ext cx="102405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Dead-letter queue: capture and inspect messages that could not be processed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914400" y="4681800"/>
            <a:ext cx="10240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Persistent seat state: remember last known status when a client reconnects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731520" y="365760"/>
            <a:ext cx="10725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72a"/>
                </a:solidFill>
                <a:latin typeface="Helvetica Neue"/>
              </a:rPr>
              <a:t>Where the Numbers Come From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9" name="Connector 2"/>
          <p:cNvCxnSpPr/>
          <p:nvPr/>
        </p:nvCxnSpPr>
        <p:spPr>
          <a:xfrm>
            <a:off x="731520" y="1188720"/>
            <a:ext cx="10726560" cy="720"/>
          </a:xfrm>
          <a:prstGeom prst="straightConnector1">
            <a:avLst/>
          </a:prstGeom>
          <a:ln w="0">
            <a:solidFill>
              <a:srgbClr val="4f81bd"/>
            </a:solidFill>
          </a:ln>
        </p:spPr>
      </p:cxnSp>
      <p:sp>
        <p:nvSpPr>
          <p:cNvPr id="170" name="TextBox 3"/>
          <p:cNvSpPr/>
          <p:nvPr/>
        </p:nvSpPr>
        <p:spPr>
          <a:xfrm>
            <a:off x="2306520" y="1325880"/>
            <a:ext cx="7547760" cy="356292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100 trains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x  5 wagons per train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x 10 cameras per wagon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= 5,000 cameras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15 fps per camera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/  5  (frame skip: every 5th frame)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=  3 effective fps per camera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3  x  5,000  =  15,000 frames analyzed per second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  </a:t>
            </a:r>
            <a:r>
              <a:rPr b="0" lang="en-US" sz="1900" spc="-1" strike="noStrike">
                <a:solidFill>
                  <a:srgbClr val="075e85"/>
                </a:solidFill>
                <a:latin typeface="Courier New"/>
              </a:rPr>
              <a:t>Compute is distributed across 5,000 edge devices.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4"/>
          <p:cNvSpPr/>
          <p:nvPr/>
        </p:nvSpPr>
        <p:spPr>
          <a:xfrm>
            <a:off x="731520" y="5760720"/>
            <a:ext cx="10725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700" spc="-1" strike="noStrike">
                <a:solidFill>
                  <a:srgbClr val="64748b"/>
                </a:solidFill>
                <a:latin typeface="Helvetica Neue"/>
              </a:rPr>
              <a:t>The server receives only events, not frames.  Load on the backend is minimal.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"/>
          <p:cNvSpPr/>
          <p:nvPr/>
        </p:nvSpPr>
        <p:spPr>
          <a:xfrm>
            <a:off x="1097280" y="2286000"/>
            <a:ext cx="99936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16a34a"/>
                </a:solidFill>
                <a:latin typeface="Helvetica Neue"/>
              </a:rPr>
              <a:t>Demo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2"/>
          <p:cNvSpPr/>
          <p:nvPr/>
        </p:nvSpPr>
        <p:spPr>
          <a:xfrm>
            <a:off x="1097280" y="4297680"/>
            <a:ext cx="9993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python main.py  -&gt;  RabbitMQ  -&gt;  dotnet run  -&gt;  localhost:5212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914400" y="2011680"/>
            <a:ext cx="1035936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0" spc="-1" strike="noStrike">
                <a:solidFill>
                  <a:srgbClr val="0f172a"/>
                </a:solidFill>
                <a:latin typeface="Helvetica Neue"/>
              </a:rPr>
              <a:t>Questions.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2"/>
          <p:cNvSpPr/>
          <p:nvPr/>
        </p:nvSpPr>
        <p:spPr>
          <a:xfrm>
            <a:off x="914400" y="4206240"/>
            <a:ext cx="10359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64748b"/>
                </a:solidFill>
                <a:latin typeface="Helvetica Neue"/>
              </a:rPr>
              <a:t>Thank you.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2026-04-29T02:24:38Z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