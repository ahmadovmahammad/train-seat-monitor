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_rels/presentation.xml.rels" ContentType="application/vnd.openxmlformats-package.relationships+xml"/>
  <Override PartName="/ppt/presentation.xml" ContentType="application/vnd.openxmlformats-officedocument.presentationml.presentation.main+xml"/>
  <Override PartName="/ppt/slideMasters/_rels/slideMaster11.xml.rels" ContentType="application/vnd.openxmlformats-package.relationships+xml"/>
  <Override PartName="/ppt/slideMasters/_rels/slideMaster5.xml.rels" ContentType="application/vnd.openxmlformats-package.relationships+xml"/>
  <Override PartName="/ppt/slideMasters/_rels/slideMaster10.xml.rels" ContentType="application/vnd.openxmlformats-package.relationships+xml"/>
  <Override PartName="/ppt/slideMasters/_rels/slideMaster4.xml.rels" ContentType="application/vnd.openxmlformats-package.relationships+xml"/>
  <Override PartName="/ppt/slideMasters/_rels/slideMaster9.xml.rels" ContentType="application/vnd.openxmlformats-package.relationships+xml"/>
  <Override PartName="/ppt/slideMasters/_rels/slideMaster8.xml.rels" ContentType="application/vnd.openxmlformats-package.relationships+xml"/>
  <Override PartName="/ppt/slideMasters/_rels/slideMaster7.xml.rels" ContentType="application/vnd.openxmlformats-package.relationships+xml"/>
  <Override PartName="/ppt/slideMasters/_rels/slideMaster6.xml.rels" ContentType="application/vnd.openxmlformats-package.relationships+xml"/>
  <Override PartName="/ppt/slideMasters/_rels/slideMaster3.xml.rels" ContentType="application/vnd.openxmlformats-package.relationships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11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theme/theme1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theme/theme8.xml" ContentType="application/vnd.openxmlformats-officedocument.theme+xml"/>
  <Override PartName="/ppt/theme/theme9.xml" ContentType="application/vnd.openxmlformats-officedocument.theme+xml"/>
  <Override PartName="/ppt/theme/theme10.xml" ContentType="application/vnd.openxmlformats-officedocument.theme+xml"/>
  <Override PartName="/ppt/slideLayouts/_rels/slideLayout9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s/_rels/slide8.xml.rels" ContentType="application/vnd.openxmlformats-package.relationships+xml"/>
  <Override PartName="/ppt/slides/_rels/slide10.xml.rels" ContentType="application/vnd.openxmlformats-package.relationships+xml"/>
  <Override PartName="/ppt/slides/_rels/slide7.xml.rels" ContentType="application/vnd.openxmlformats-package.relationships+xml"/>
  <Override PartName="/ppt/slides/_rels/slide6.xml.rels" ContentType="application/vnd.openxmlformats-package.relationships+xml"/>
  <Override PartName="/ppt/slides/_rels/slide13.xml.rels" ContentType="application/vnd.openxmlformats-package.relationships+xml"/>
  <Override PartName="/ppt/slides/_rels/slide12.xml.rels" ContentType="application/vnd.openxmlformats-package.relationships+xml"/>
  <Override PartName="/ppt/slides/_rels/slide9.xml.rels" ContentType="application/vnd.openxmlformats-package.relationships+xml"/>
  <Override PartName="/ppt/slides/_rels/slide11.xml.rels" ContentType="application/vnd.openxmlformats-package.relationships+xml"/>
  <Override PartName="/ppt/slides/_rels/slide14.xml.rels" ContentType="application/vnd.openxmlformats-package.relationships+xml"/>
  <Override PartName="/ppt/slides/_rels/slide15.xml.rels" ContentType="application/vnd.openxmlformats-package.relationships+xml"/>
  <Override PartName="/ppt/slides/_rels/slide1.xml.rels" ContentType="application/vnd.openxmlformats-package.relationships+xml"/>
  <Override PartName="/ppt/slides/_rels/slide16.xml.rels" ContentType="application/vnd.openxmlformats-package.relationships+xml"/>
  <Override PartName="/ppt/slides/_rels/slide2.xml.rels" ContentType="application/vnd.openxmlformats-package.relationships+xml"/>
  <Override PartName="/ppt/slides/_rels/slide17.xml.rels" ContentType="application/vnd.openxmlformats-package.relationships+xml"/>
  <Override PartName="/ppt/slides/_rels/slide3.xml.rels" ContentType="application/vnd.openxmlformats-package.relationships+xml"/>
  <Override PartName="/ppt/slides/_rels/slide4.xml.rels" ContentType="application/vnd.openxmlformats-package.relationships+xml"/>
  <Override PartName="/ppt/slides/_rels/slide5.xml.rels" ContentType="application/vnd.openxmlformats-package.relationships+xml"/>
  <Override PartName="/ppt/slides/slide13.xml" ContentType="application/vnd.openxmlformats-officedocument.presentationml.slide+xml"/>
  <Override PartName="/ppt/slides/slide12.xml" ContentType="application/vnd.openxmlformats-officedocument.presentationml.slide+xml"/>
  <Override PartName="/ppt/slides/slide9.xml" ContentType="application/vnd.openxmlformats-officedocument.presentationml.slide+xml"/>
  <Override PartName="/ppt/slides/slide11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17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10.xml" ContentType="application/vnd.openxmlformats-officedocument.presentationml.slide+xml"/>
  <Override PartName="/ppt/slides/slide8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50" r:id="rId3"/>
    <p:sldMasterId id="2147483652" r:id="rId4"/>
    <p:sldMasterId id="2147483654" r:id="rId5"/>
    <p:sldMasterId id="2147483656" r:id="rId6"/>
    <p:sldMasterId id="2147483658" r:id="rId7"/>
    <p:sldMasterId id="2147483660" r:id="rId8"/>
    <p:sldMasterId id="2147483662" r:id="rId9"/>
    <p:sldMasterId id="2147483664" r:id="rId10"/>
    <p:sldMasterId id="2147483666" r:id="rId11"/>
    <p:sldMasterId id="2147483668" r:id="rId12"/>
  </p:sldMasterIdLst>
  <p:sldIdLst>
    <p:sldId id="256" r:id="rId13"/>
    <p:sldId id="257" r:id="rId14"/>
    <p:sldId id="258" r:id="rId15"/>
    <p:sldId id="259" r:id="rId16"/>
    <p:sldId id="260" r:id="rId17"/>
    <p:sldId id="261" r:id="rId18"/>
    <p:sldId id="262" r:id="rId19"/>
    <p:sldId id="263" r:id="rId20"/>
    <p:sldId id="264" r:id="rId21"/>
    <p:sldId id="265" r:id="rId22"/>
    <p:sldId id="266" r:id="rId23"/>
    <p:sldId id="267" r:id="rId24"/>
    <p:sldId id="268" r:id="rId25"/>
    <p:sldId id="269" r:id="rId26"/>
    <p:sldId id="270" r:id="rId27"/>
    <p:sldId id="271" r:id="rId28"/>
    <p:sldId id="272" r:id="rId29"/>
  </p:sldIdLst>
  <p:sldSz cx="12188825" cy="6858000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Master" Target="slideMasters/slideMaster3.xml"/><Relationship Id="rId5" Type="http://schemas.openxmlformats.org/officeDocument/2006/relationships/slideMaster" Target="slideMasters/slideMaster4.xml"/><Relationship Id="rId6" Type="http://schemas.openxmlformats.org/officeDocument/2006/relationships/slideMaster" Target="slideMasters/slideMaster5.xml"/><Relationship Id="rId7" Type="http://schemas.openxmlformats.org/officeDocument/2006/relationships/slideMaster" Target="slideMasters/slideMaster6.xml"/><Relationship Id="rId8" Type="http://schemas.openxmlformats.org/officeDocument/2006/relationships/slideMaster" Target="slideMasters/slideMaster7.xml"/><Relationship Id="rId9" Type="http://schemas.openxmlformats.org/officeDocument/2006/relationships/slideMaster" Target="slideMasters/slideMaster8.xml"/><Relationship Id="rId10" Type="http://schemas.openxmlformats.org/officeDocument/2006/relationships/slideMaster" Target="slideMasters/slideMaster9.xml"/><Relationship Id="rId11" Type="http://schemas.openxmlformats.org/officeDocument/2006/relationships/slideMaster" Target="slideMasters/slideMaster10.xml"/><Relationship Id="rId12" Type="http://schemas.openxmlformats.org/officeDocument/2006/relationships/slideMaster" Target="slideMasters/slideMaster11.xml"/><Relationship Id="rId13" Type="http://schemas.openxmlformats.org/officeDocument/2006/relationships/slide" Target="slides/slide1.xml"/><Relationship Id="rId14" Type="http://schemas.openxmlformats.org/officeDocument/2006/relationships/slide" Target="slides/slide2.xml"/><Relationship Id="rId15" Type="http://schemas.openxmlformats.org/officeDocument/2006/relationships/slide" Target="slides/slide3.xml"/><Relationship Id="rId16" Type="http://schemas.openxmlformats.org/officeDocument/2006/relationships/slide" Target="slides/slide4.xml"/><Relationship Id="rId17" Type="http://schemas.openxmlformats.org/officeDocument/2006/relationships/slide" Target="slides/slide5.xml"/><Relationship Id="rId18" Type="http://schemas.openxmlformats.org/officeDocument/2006/relationships/slide" Target="slides/slide6.xml"/><Relationship Id="rId19" Type="http://schemas.openxmlformats.org/officeDocument/2006/relationships/slide" Target="slides/slide7.xml"/><Relationship Id="rId20" Type="http://schemas.openxmlformats.org/officeDocument/2006/relationships/slide" Target="slides/slide8.xml"/><Relationship Id="rId21" Type="http://schemas.openxmlformats.org/officeDocument/2006/relationships/slide" Target="slides/slide9.xml"/><Relationship Id="rId22" Type="http://schemas.openxmlformats.org/officeDocument/2006/relationships/slide" Target="slides/slide10.xml"/><Relationship Id="rId23" Type="http://schemas.openxmlformats.org/officeDocument/2006/relationships/slide" Target="slides/slide11.xml"/><Relationship Id="rId24" Type="http://schemas.openxmlformats.org/officeDocument/2006/relationships/slide" Target="slides/slide12.xml"/><Relationship Id="rId25" Type="http://schemas.openxmlformats.org/officeDocument/2006/relationships/slide" Target="slides/slide13.xml"/><Relationship Id="rId26" Type="http://schemas.openxmlformats.org/officeDocument/2006/relationships/slide" Target="slides/slide14.xml"/><Relationship Id="rId27" Type="http://schemas.openxmlformats.org/officeDocument/2006/relationships/slide" Target="slides/slide15.xml"/><Relationship Id="rId28" Type="http://schemas.openxmlformats.org/officeDocument/2006/relationships/slide" Target="slides/slide16.xml"/><Relationship Id="rId29" Type="http://schemas.openxmlformats.org/officeDocument/2006/relationships/slide" Target="slides/slide17.xml"/><Relationship Id="rId30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8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0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609120" y="273600"/>
            <a:ext cx="1096956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 type="subTitle"/>
          </p:nvPr>
        </p:nvSpPr>
        <p:spPr>
          <a:xfrm>
            <a:off x="609120" y="1604520"/>
            <a:ext cx="1096956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36C35D4E-84DD-497A-BC29-DE4BB9E444CD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6AAE82C6-0F1B-44E1-BC56-D9B1FF0FEA2B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8"/>
          </p:nvPr>
        </p:nvSpPr>
        <p:spPr/>
        <p:txBody>
          <a:bodyPr/>
          <a:p>
            <a:fld id="{8A347612-145E-4DD3-94A5-7AA628A40A64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9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609120" y="273600"/>
            <a:ext cx="1096956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" name="PlaceHolder 2"/>
          <p:cNvSpPr>
            <a:spLocks noGrp="1"/>
          </p:cNvSpPr>
          <p:nvPr>
            <p:ph/>
          </p:nvPr>
        </p:nvSpPr>
        <p:spPr>
          <a:xfrm>
            <a:off x="609120" y="1604520"/>
            <a:ext cx="1096956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0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11"/>
          </p:nvPr>
        </p:nvSpPr>
        <p:spPr/>
        <p:txBody>
          <a:bodyPr/>
          <a:p>
            <a:fld id="{B3A76404-6326-47CA-92E6-B38CD91EE6FF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2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3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14"/>
          </p:nvPr>
        </p:nvSpPr>
        <p:spPr/>
        <p:txBody>
          <a:bodyPr/>
          <a:p>
            <a:fld id="{4B1227EC-A7EF-4432-94FB-4F2FCE1D0EB0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5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PlaceHolder 1"/>
          <p:cNvSpPr>
            <a:spLocks noGrp="1"/>
          </p:cNvSpPr>
          <p:nvPr>
            <p:ph type="title"/>
          </p:nvPr>
        </p:nvSpPr>
        <p:spPr>
          <a:xfrm>
            <a:off x="609120" y="273600"/>
            <a:ext cx="1096956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" name="PlaceHolder 2"/>
          <p:cNvSpPr>
            <a:spLocks noGrp="1"/>
          </p:cNvSpPr>
          <p:nvPr>
            <p:ph/>
          </p:nvPr>
        </p:nvSpPr>
        <p:spPr>
          <a:xfrm>
            <a:off x="609120" y="1604520"/>
            <a:ext cx="53528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" name="PlaceHolder 3"/>
          <p:cNvSpPr>
            <a:spLocks noGrp="1"/>
          </p:cNvSpPr>
          <p:nvPr>
            <p:ph/>
          </p:nvPr>
        </p:nvSpPr>
        <p:spPr>
          <a:xfrm>
            <a:off x="6230160" y="1604520"/>
            <a:ext cx="53528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6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17"/>
          </p:nvPr>
        </p:nvSpPr>
        <p:spPr/>
        <p:txBody>
          <a:bodyPr/>
          <a:p>
            <a:fld id="{BC196EDB-63A3-4DC6-8F00-95F49F536C70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8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9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0"/>
          </p:nvPr>
        </p:nvSpPr>
        <p:spPr/>
        <p:txBody>
          <a:bodyPr/>
          <a:p>
            <a:fld id="{EECDB09A-EFDC-4113-A7AB-61E03A53E44C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2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PlaceHolder 1"/>
          <p:cNvSpPr>
            <a:spLocks noGrp="1"/>
          </p:cNvSpPr>
          <p:nvPr>
            <p:ph type="title"/>
          </p:nvPr>
        </p:nvSpPr>
        <p:spPr>
          <a:xfrm>
            <a:off x="609120" y="273600"/>
            <a:ext cx="1096956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23"/>
          </p:nvPr>
        </p:nvSpPr>
        <p:spPr/>
        <p:txBody>
          <a:bodyPr/>
          <a:p>
            <a:fld id="{E56B65E5-3EC4-4352-BBF8-1EEDAD0AAEFD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24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6"/>
          </p:nvPr>
        </p:nvSpPr>
        <p:spPr/>
        <p:txBody>
          <a:bodyPr/>
          <a:p>
            <a:fld id="{DE0D640B-9C78-4EF1-AF8D-7EEC4457F194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27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8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9"/>
          </p:nvPr>
        </p:nvSpPr>
        <p:spPr/>
        <p:txBody>
          <a:bodyPr/>
          <a:p>
            <a:fld id="{6ACF65CC-32EC-4AF6-B29B-360D2BDBB846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30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3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2"/>
          </p:nvPr>
        </p:nvSpPr>
        <p:spPr/>
        <p:txBody>
          <a:bodyPr/>
          <a:p>
            <a:fld id="{0A0E7E6A-B994-446D-A1CB-5CA4F2BFEF9E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3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2.xml"/>
</Relationships>
</file>

<file path=ppt/slideMasters/_rels/slideMaster3.xml.rels><?xml version="1.0" encoding="UTF-8"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slideLayout" Target="../slideLayouts/slideLayout3.xml"/>
</Relationships>
</file>

<file path=ppt/slideMasters/_rels/slideMaster4.xml.rels><?xml version="1.0" encoding="UTF-8"?>
<Relationships xmlns="http://schemas.openxmlformats.org/package/2006/relationships"><Relationship Id="rId1" Type="http://schemas.openxmlformats.org/officeDocument/2006/relationships/theme" Target="../theme/theme4.xml"/><Relationship Id="rId2" Type="http://schemas.openxmlformats.org/officeDocument/2006/relationships/slideLayout" Target="../slideLayouts/slideLayout4.xml"/>
</Relationships>
</file>

<file path=ppt/slideMasters/_rels/slideMaster5.xml.rels><?xml version="1.0" encoding="UTF-8"?>
<Relationships xmlns="http://schemas.openxmlformats.org/package/2006/relationships"><Relationship Id="rId1" Type="http://schemas.openxmlformats.org/officeDocument/2006/relationships/theme" Target="../theme/theme5.xml"/><Relationship Id="rId2" Type="http://schemas.openxmlformats.org/officeDocument/2006/relationships/slideLayout" Target="../slideLayouts/slideLayout5.xml"/>
</Relationships>
</file>

<file path=ppt/slideMasters/_rels/slideMaster6.xml.rels><?xml version="1.0" encoding="UTF-8"?>
<Relationships xmlns="http://schemas.openxmlformats.org/package/2006/relationships"><Relationship Id="rId1" Type="http://schemas.openxmlformats.org/officeDocument/2006/relationships/theme" Target="../theme/theme6.xml"/><Relationship Id="rId2" Type="http://schemas.openxmlformats.org/officeDocument/2006/relationships/slideLayout" Target="../slideLayouts/slideLayout6.xml"/>
</Relationships>
</file>

<file path=ppt/slideMasters/_rels/slideMaster7.xml.rels><?xml version="1.0" encoding="UTF-8"?>
<Relationships xmlns="http://schemas.openxmlformats.org/package/2006/relationships"><Relationship Id="rId1" Type="http://schemas.openxmlformats.org/officeDocument/2006/relationships/theme" Target="../theme/theme7.xml"/><Relationship Id="rId2" Type="http://schemas.openxmlformats.org/officeDocument/2006/relationships/slideLayout" Target="../slideLayouts/slideLayout7.xml"/>
</Relationships>
</file>

<file path=ppt/slideMasters/_rels/slideMaster8.xml.rels><?xml version="1.0" encoding="UTF-8"?>
<Relationships xmlns="http://schemas.openxmlformats.org/package/2006/relationships"><Relationship Id="rId1" Type="http://schemas.openxmlformats.org/officeDocument/2006/relationships/theme" Target="../theme/theme8.xml"/><Relationship Id="rId2" Type="http://schemas.openxmlformats.org/officeDocument/2006/relationships/slideLayout" Target="../slideLayouts/slideLayout8.xml"/>
</Relationships>
</file>

<file path=ppt/slideMasters/_rels/slideMaster9.xml.rels><?xml version="1.0" encoding="UTF-8"?>
<Relationships xmlns="http://schemas.openxmlformats.org/package/2006/relationships"><Relationship Id="rId1" Type="http://schemas.openxmlformats.org/officeDocument/2006/relationships/theme" Target="../theme/theme9.xml"/><Relationship Id="rId2" Type="http://schemas.openxmlformats.org/officeDocument/2006/relationships/slideLayout" Target="../slideLayouts/slideLayout9.xml"/>
</Relationships>
</file>

<file path=ppt/slideMasters/_rels/slideMaster10.xml.rels><?xml version="1.0" encoding="UTF-8"?>
<Relationships xmlns="http://schemas.openxmlformats.org/package/2006/relationships"><Relationship Id="rId1" Type="http://schemas.openxmlformats.org/officeDocument/2006/relationships/theme" Target="../theme/theme10.xml"/><Relationship Id="rId2" Type="http://schemas.openxmlformats.org/officeDocument/2006/relationships/slideLayout" Target="../slideLayouts/slideLayout10.xml"/>
</Relationships>
</file>

<file path=ppt/slideMasters/_rels/slideMaster11.xml.rels><?xml version="1.0" encoding="UTF-8"?>
<Relationships xmlns="http://schemas.openxmlformats.org/package/2006/relationships"><Relationship Id="rId1" Type="http://schemas.openxmlformats.org/officeDocument/2006/relationships/theme" Target="../theme/theme11.xml"/><Relationship Id="rId2" Type="http://schemas.openxmlformats.org/officeDocument/2006/relationships/slideLayout" Target="../slideLayouts/slideLayout1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609120" y="273600"/>
            <a:ext cx="10969200" cy="1144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ftr" idx="1"/>
          </p:nvPr>
        </p:nvSpPr>
        <p:spPr>
          <a:xfrm>
            <a:off x="3124080" y="6356520"/>
            <a:ext cx="289440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sldNum" idx="2"/>
          </p:nvPr>
        </p:nvSpPr>
        <p:spPr>
          <a:xfrm>
            <a:off x="6553080" y="6356520"/>
            <a:ext cx="213264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9A3E98ED-27EB-488B-A248-968CACB0A248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dt" idx="3"/>
          </p:nvPr>
        </p:nvSpPr>
        <p:spPr>
          <a:xfrm>
            <a:off x="457200" y="6356520"/>
            <a:ext cx="213264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ftr" idx="4"/>
          </p:nvPr>
        </p:nvSpPr>
        <p:spPr>
          <a:xfrm>
            <a:off x="3124080" y="6356520"/>
            <a:ext cx="289440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 type="sldNum" idx="5"/>
          </p:nvPr>
        </p:nvSpPr>
        <p:spPr>
          <a:xfrm>
            <a:off x="6553080" y="6356520"/>
            <a:ext cx="213264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EF8ACBD5-539D-4A69-AC06-D33EEED4CE49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" name="PlaceHolder 3"/>
          <p:cNvSpPr>
            <a:spLocks noGrp="1"/>
          </p:cNvSpPr>
          <p:nvPr>
            <p:ph type="dt" idx="6"/>
          </p:nvPr>
        </p:nvSpPr>
        <p:spPr>
          <a:xfrm>
            <a:off x="457200" y="6356520"/>
            <a:ext cx="213264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1" r:id="rId2"/>
  </p:sldLayoutIdLst>
</p:sldMaster>
</file>

<file path=ppt/slideMasters/slideMaster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ftr" idx="7"/>
          </p:nvPr>
        </p:nvSpPr>
        <p:spPr>
          <a:xfrm>
            <a:off x="3124080" y="6356520"/>
            <a:ext cx="289440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 type="sldNum" idx="8"/>
          </p:nvPr>
        </p:nvSpPr>
        <p:spPr>
          <a:xfrm>
            <a:off x="6553080" y="6356520"/>
            <a:ext cx="213264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E0C457D5-7D95-4D9D-944E-41005ACA1B65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" name="PlaceHolder 3"/>
          <p:cNvSpPr>
            <a:spLocks noGrp="1"/>
          </p:cNvSpPr>
          <p:nvPr>
            <p:ph type="dt" idx="9"/>
          </p:nvPr>
        </p:nvSpPr>
        <p:spPr>
          <a:xfrm>
            <a:off x="457200" y="6356520"/>
            <a:ext cx="213264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3" r:id="rId2"/>
  </p:sldLayoutIdLst>
</p:sldMaster>
</file>

<file path=ppt/slideMasters/slideMaster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609120" y="273600"/>
            <a:ext cx="10969200" cy="1144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title text </a:t>
            </a: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 type="body"/>
          </p:nvPr>
        </p:nvSpPr>
        <p:spPr>
          <a:xfrm>
            <a:off x="609120" y="1604520"/>
            <a:ext cx="10969200" cy="397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" name="PlaceHolder 3"/>
          <p:cNvSpPr>
            <a:spLocks noGrp="1"/>
          </p:cNvSpPr>
          <p:nvPr>
            <p:ph type="ftr" idx="10"/>
          </p:nvPr>
        </p:nvSpPr>
        <p:spPr>
          <a:xfrm>
            <a:off x="3124080" y="6356520"/>
            <a:ext cx="289440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5" name="PlaceHolder 4"/>
          <p:cNvSpPr>
            <a:spLocks noGrp="1"/>
          </p:cNvSpPr>
          <p:nvPr>
            <p:ph type="sldNum" idx="11"/>
          </p:nvPr>
        </p:nvSpPr>
        <p:spPr>
          <a:xfrm>
            <a:off x="6553080" y="6356520"/>
            <a:ext cx="213264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831AAC6E-249D-41FF-A4EA-ED55F8655204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6" name="PlaceHolder 5"/>
          <p:cNvSpPr>
            <a:spLocks noGrp="1"/>
          </p:cNvSpPr>
          <p:nvPr>
            <p:ph type="dt" idx="12"/>
          </p:nvPr>
        </p:nvSpPr>
        <p:spPr>
          <a:xfrm>
            <a:off x="457200" y="6356520"/>
            <a:ext cx="213264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5" r:id="rId2"/>
  </p:sldLayoutIdLst>
</p:sldMaster>
</file>

<file path=ppt/slideMasters/slideMaster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ftr" idx="13"/>
          </p:nvPr>
        </p:nvSpPr>
        <p:spPr>
          <a:xfrm>
            <a:off x="3124080" y="6356520"/>
            <a:ext cx="289440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 type="sldNum" idx="14"/>
          </p:nvPr>
        </p:nvSpPr>
        <p:spPr>
          <a:xfrm>
            <a:off x="6553080" y="6356520"/>
            <a:ext cx="213264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C94C0E67-CE8F-441B-8155-7372657783CB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 type="dt" idx="15"/>
          </p:nvPr>
        </p:nvSpPr>
        <p:spPr>
          <a:xfrm>
            <a:off x="457200" y="6356520"/>
            <a:ext cx="213264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7" r:id="rId2"/>
  </p:sldLayoutIdLst>
</p:sldMaster>
</file>

<file path=ppt/slideMasters/slideMaster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609120" y="273600"/>
            <a:ext cx="10969200" cy="1144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 type="body"/>
          </p:nvPr>
        </p:nvSpPr>
        <p:spPr>
          <a:xfrm>
            <a:off x="609120" y="1604520"/>
            <a:ext cx="5352480" cy="397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" name="PlaceHolder 3"/>
          <p:cNvSpPr>
            <a:spLocks noGrp="1"/>
          </p:cNvSpPr>
          <p:nvPr>
            <p:ph type="body"/>
          </p:nvPr>
        </p:nvSpPr>
        <p:spPr>
          <a:xfrm>
            <a:off x="6230160" y="1604520"/>
            <a:ext cx="5352480" cy="397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" name="PlaceHolder 4"/>
          <p:cNvSpPr>
            <a:spLocks noGrp="1"/>
          </p:cNvSpPr>
          <p:nvPr>
            <p:ph type="ftr" idx="16"/>
          </p:nvPr>
        </p:nvSpPr>
        <p:spPr>
          <a:xfrm>
            <a:off x="3124080" y="6356520"/>
            <a:ext cx="289440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6" name="PlaceHolder 5"/>
          <p:cNvSpPr>
            <a:spLocks noGrp="1"/>
          </p:cNvSpPr>
          <p:nvPr>
            <p:ph type="sldNum" idx="17"/>
          </p:nvPr>
        </p:nvSpPr>
        <p:spPr>
          <a:xfrm>
            <a:off x="6553080" y="6356520"/>
            <a:ext cx="213264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6194B949-D1CA-4A7D-B955-7630DC40C812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7" name="PlaceHolder 6"/>
          <p:cNvSpPr>
            <a:spLocks noGrp="1"/>
          </p:cNvSpPr>
          <p:nvPr>
            <p:ph type="dt" idx="18"/>
          </p:nvPr>
        </p:nvSpPr>
        <p:spPr>
          <a:xfrm>
            <a:off x="457200" y="6356520"/>
            <a:ext cx="213264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9" r:id="rId2"/>
  </p:sldLayoutIdLst>
</p:sldMaster>
</file>

<file path=ppt/slideMasters/slideMaster7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ftr" idx="19"/>
          </p:nvPr>
        </p:nvSpPr>
        <p:spPr>
          <a:xfrm>
            <a:off x="3124080" y="6356520"/>
            <a:ext cx="289440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 type="sldNum" idx="20"/>
          </p:nvPr>
        </p:nvSpPr>
        <p:spPr>
          <a:xfrm>
            <a:off x="6553080" y="6356520"/>
            <a:ext cx="213264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2441C97F-79D1-4742-9BFD-B0E1FFDBC384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 type="dt" idx="21"/>
          </p:nvPr>
        </p:nvSpPr>
        <p:spPr>
          <a:xfrm>
            <a:off x="457200" y="6356520"/>
            <a:ext cx="213264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1" r:id="rId2"/>
  </p:sldLayoutIdLst>
</p:sldMaster>
</file>

<file path=ppt/slideMasters/slideMaster8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609120" y="273600"/>
            <a:ext cx="10969200" cy="1144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title text </a:t>
            </a: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 type="ftr" idx="22"/>
          </p:nvPr>
        </p:nvSpPr>
        <p:spPr>
          <a:xfrm>
            <a:off x="3124080" y="6356520"/>
            <a:ext cx="289440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 type="sldNum" idx="23"/>
          </p:nvPr>
        </p:nvSpPr>
        <p:spPr>
          <a:xfrm>
            <a:off x="6553080" y="6356520"/>
            <a:ext cx="213264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9CA8BD6D-8005-42FB-93A1-04B0FD293BF9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 type="dt" idx="24"/>
          </p:nvPr>
        </p:nvSpPr>
        <p:spPr>
          <a:xfrm>
            <a:off x="457200" y="6356520"/>
            <a:ext cx="213264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3" r:id="rId2"/>
  </p:sldLayoutIdLst>
</p:sldMaster>
</file>

<file path=ppt/slideMasters/slideMaster9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laceHolder 1"/>
          <p:cNvSpPr>
            <a:spLocks noGrp="1"/>
          </p:cNvSpPr>
          <p:nvPr>
            <p:ph type="ftr" idx="25"/>
          </p:nvPr>
        </p:nvSpPr>
        <p:spPr>
          <a:xfrm>
            <a:off x="3124080" y="6356520"/>
            <a:ext cx="289440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0" name="PlaceHolder 2"/>
          <p:cNvSpPr>
            <a:spLocks noGrp="1"/>
          </p:cNvSpPr>
          <p:nvPr>
            <p:ph type="sldNum" idx="26"/>
          </p:nvPr>
        </p:nvSpPr>
        <p:spPr>
          <a:xfrm>
            <a:off x="6553080" y="6356520"/>
            <a:ext cx="213264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E1BECDF4-C1CE-425D-852A-63EFB8E4421B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1" name="PlaceHolder 3"/>
          <p:cNvSpPr>
            <a:spLocks noGrp="1"/>
          </p:cNvSpPr>
          <p:nvPr>
            <p:ph type="dt" idx="27"/>
          </p:nvPr>
        </p:nvSpPr>
        <p:spPr>
          <a:xfrm>
            <a:off x="457200" y="6356520"/>
            <a:ext cx="213264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2" name="PlaceHolder 4"/>
          <p:cNvSpPr>
            <a:spLocks noGrp="1"/>
          </p:cNvSpPr>
          <p:nvPr>
            <p:ph type="title"/>
          </p:nvPr>
        </p:nvSpPr>
        <p:spPr>
          <a:xfrm>
            <a:off x="609120" y="273600"/>
            <a:ext cx="1096956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Click to </a:t>
            </a: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edit the </a:t>
            </a: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title text </a:t>
            </a: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format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" name="PlaceHolder 5"/>
          <p:cNvSpPr>
            <a:spLocks noGrp="1"/>
          </p:cNvSpPr>
          <p:nvPr>
            <p:ph type="body"/>
          </p:nvPr>
        </p:nvSpPr>
        <p:spPr>
          <a:xfrm>
            <a:off x="609120" y="1604520"/>
            <a:ext cx="1096956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5" r:id="rId2"/>
  </p:sldLayoutIdLst>
</p:sldMaster>
</file>

<file path=ppt/slideMasters/slideMaster10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PlaceHolder 1"/>
          <p:cNvSpPr>
            <a:spLocks noGrp="1"/>
          </p:cNvSpPr>
          <p:nvPr>
            <p:ph type="ftr" idx="28"/>
          </p:nvPr>
        </p:nvSpPr>
        <p:spPr>
          <a:xfrm>
            <a:off x="3124080" y="6356520"/>
            <a:ext cx="289440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5" name="PlaceHolder 2"/>
          <p:cNvSpPr>
            <a:spLocks noGrp="1"/>
          </p:cNvSpPr>
          <p:nvPr>
            <p:ph type="sldNum" idx="29"/>
          </p:nvPr>
        </p:nvSpPr>
        <p:spPr>
          <a:xfrm>
            <a:off x="6553080" y="6356520"/>
            <a:ext cx="213264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15A51EB1-F335-4EAE-B75E-20CBFC3D6A32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6" name="PlaceHolder 3"/>
          <p:cNvSpPr>
            <a:spLocks noGrp="1"/>
          </p:cNvSpPr>
          <p:nvPr>
            <p:ph type="dt" idx="30"/>
          </p:nvPr>
        </p:nvSpPr>
        <p:spPr>
          <a:xfrm>
            <a:off x="457200" y="6356520"/>
            <a:ext cx="213264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7" r:id="rId2"/>
  </p:sldLayoutIdLst>
</p:sldMaster>
</file>

<file path=ppt/slideMasters/slideMaster1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PlaceHolder 1"/>
          <p:cNvSpPr>
            <a:spLocks noGrp="1"/>
          </p:cNvSpPr>
          <p:nvPr>
            <p:ph type="ftr" idx="31"/>
          </p:nvPr>
        </p:nvSpPr>
        <p:spPr>
          <a:xfrm>
            <a:off x="3124080" y="6356520"/>
            <a:ext cx="289440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 type="sldNum" idx="32"/>
          </p:nvPr>
        </p:nvSpPr>
        <p:spPr>
          <a:xfrm>
            <a:off x="6553080" y="6356520"/>
            <a:ext cx="213264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5AE46C7B-65C4-4CB7-8024-F5F708FDDAC7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9" name="PlaceHolder 3"/>
          <p:cNvSpPr>
            <a:spLocks noGrp="1"/>
          </p:cNvSpPr>
          <p:nvPr>
            <p:ph type="dt" idx="33"/>
          </p:nvPr>
        </p:nvSpPr>
        <p:spPr>
          <a:xfrm>
            <a:off x="457200" y="6356520"/>
            <a:ext cx="213264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9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1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TextBox 1"/>
          <p:cNvSpPr/>
          <p:nvPr/>
        </p:nvSpPr>
        <p:spPr>
          <a:xfrm>
            <a:off x="914400" y="2011680"/>
            <a:ext cx="10359000" cy="1674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1" lang="en-US" sz="5200" spc="-1" strike="noStrike">
                <a:solidFill>
                  <a:srgbClr val="0f172a"/>
                </a:solidFill>
                <a:latin typeface="Helvetica Neue"/>
              </a:rPr>
              <a:t>Big Data Pipelines</a:t>
            </a:r>
            <a:endParaRPr b="0" lang="en-US" sz="5200" spc="-1" strike="noStrike">
              <a:solidFill>
                <a:srgbClr val="000000"/>
              </a:solidFill>
              <a:latin typeface="Arial"/>
            </a:endParaRPr>
          </a:p>
          <a:p>
            <a:pPr algn="ctr" defTabSz="457200">
              <a:lnSpc>
                <a:spcPct val="100000"/>
              </a:lnSpc>
            </a:pPr>
            <a:r>
              <a:rPr b="1" lang="en-US" sz="5200" spc="-1" strike="noStrike">
                <a:solidFill>
                  <a:srgbClr val="0f172a"/>
                </a:solidFill>
                <a:latin typeface="Helvetica Neue"/>
              </a:rPr>
              <a:t>for Computer Vision</a:t>
            </a:r>
            <a:endParaRPr b="0" lang="en-US" sz="5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1" name="TextBox 2"/>
          <p:cNvSpPr/>
          <p:nvPr/>
        </p:nvSpPr>
        <p:spPr>
          <a:xfrm>
            <a:off x="914400" y="4206240"/>
            <a:ext cx="10359000" cy="759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0" lang="en-US" sz="2200" spc="-1" strike="noStrike">
                <a:solidFill>
                  <a:srgbClr val="64748b"/>
                </a:solidFill>
                <a:latin typeface="Helvetica Neue"/>
              </a:rPr>
              <a:t>Real-Time Processing of Video Streams  /  AZTU 2026</a:t>
            </a:r>
            <a:endParaRPr b="0" lang="en-US" sz="2200" spc="-1" strike="noStrike">
              <a:solidFill>
                <a:srgbClr val="000000"/>
              </a:solidFill>
              <a:latin typeface="Arial"/>
            </a:endParaRPr>
          </a:p>
          <a:p>
            <a:pPr algn="ctr" defTabSz="457200">
              <a:lnSpc>
                <a:spcPct val="100000"/>
              </a:lnSpc>
            </a:pPr>
            <a:r>
              <a:rPr b="0" lang="en-US" sz="2200" spc="-1" strike="noStrike">
                <a:solidFill>
                  <a:srgbClr val="64748b"/>
                </a:solidFill>
                <a:latin typeface="Helvetica Neue"/>
              </a:rPr>
              <a:t>Mahammad Ahmadov</a:t>
            </a:r>
            <a:endParaRPr b="0" lang="en-US" sz="2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TextBox 1"/>
          <p:cNvSpPr/>
          <p:nvPr/>
        </p:nvSpPr>
        <p:spPr>
          <a:xfrm>
            <a:off x="914400" y="731520"/>
            <a:ext cx="10359000" cy="45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0" lang="en-US" sz="2400" spc="-1" strike="noStrike">
                <a:solidFill>
                  <a:srgbClr val="64748b"/>
                </a:solidFill>
                <a:latin typeface="Helvetica Neue"/>
              </a:rPr>
              <a:t>cameras running simultaneously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3" name="TextBox 2"/>
          <p:cNvSpPr/>
          <p:nvPr/>
        </p:nvSpPr>
        <p:spPr>
          <a:xfrm>
            <a:off x="914400" y="1554480"/>
            <a:ext cx="10359000" cy="1766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11000" spc="-1" strike="noStrike">
                <a:solidFill>
                  <a:srgbClr val="0284c7"/>
                </a:solidFill>
                <a:latin typeface="Helvetica Neue"/>
              </a:rPr>
              <a:t>5,000</a:t>
            </a:r>
            <a:endParaRPr b="0" lang="en-US" sz="1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4" name="TextBox 3"/>
          <p:cNvSpPr/>
          <p:nvPr/>
        </p:nvSpPr>
        <p:spPr>
          <a:xfrm>
            <a:off x="914400" y="4572000"/>
            <a:ext cx="10359000" cy="424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0" lang="en-US" sz="2200" spc="-1" strike="noStrike">
                <a:solidFill>
                  <a:srgbClr val="64748b"/>
                </a:solidFill>
                <a:latin typeface="Helvetica Neue"/>
              </a:rPr>
              <a:t>100 trains  x  5 wagons  x  10 cameras</a:t>
            </a:r>
            <a:endParaRPr b="0" lang="en-US" sz="2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TextBox 1"/>
          <p:cNvSpPr/>
          <p:nvPr/>
        </p:nvSpPr>
        <p:spPr>
          <a:xfrm>
            <a:off x="1097280" y="2286000"/>
            <a:ext cx="9993240" cy="1430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1" lang="en-US" sz="4400" spc="-1" strike="noStrike">
                <a:solidFill>
                  <a:srgbClr val="0f172a"/>
                </a:solidFill>
                <a:latin typeface="Helvetica Neue"/>
              </a:rPr>
              <a:t>Raw video transfer is impossible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  <a:p>
            <a:pPr algn="ctr" defTabSz="457200">
              <a:lnSpc>
                <a:spcPct val="100000"/>
              </a:lnSpc>
            </a:pPr>
            <a:r>
              <a:rPr b="1" lang="en-US" sz="4400" spc="-1" strike="noStrike">
                <a:solidFill>
                  <a:srgbClr val="0f172a"/>
                </a:solidFill>
                <a:latin typeface="Helvetica Neue"/>
              </a:rPr>
              <a:t>at this scale.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6" name="TextBox 2"/>
          <p:cNvSpPr/>
          <p:nvPr/>
        </p:nvSpPr>
        <p:spPr>
          <a:xfrm>
            <a:off x="1097280" y="4297680"/>
            <a:ext cx="9993240" cy="424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0" lang="en-US" sz="2200" spc="-1" strike="noStrike">
                <a:solidFill>
                  <a:srgbClr val="64748b"/>
                </a:solidFill>
                <a:latin typeface="Helvetica Neue"/>
              </a:rPr>
              <a:t>150 KB per frame  x  15 fps  x  5,000 cameras  =  11 GB/s</a:t>
            </a:r>
            <a:endParaRPr b="0" lang="en-US" sz="2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TextBox 1"/>
          <p:cNvSpPr/>
          <p:nvPr/>
        </p:nvSpPr>
        <p:spPr>
          <a:xfrm>
            <a:off x="1097280" y="2286000"/>
            <a:ext cx="9993240" cy="1430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1" lang="en-US" sz="4400" spc="-1" strike="noStrike">
                <a:solidFill>
                  <a:srgbClr val="16a34a"/>
                </a:solidFill>
                <a:latin typeface="Helvetica Neue"/>
              </a:rPr>
              <a:t>Don't send video.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  <a:p>
            <a:pPr algn="ctr" defTabSz="457200">
              <a:lnSpc>
                <a:spcPct val="100000"/>
              </a:lnSpc>
            </a:pPr>
            <a:r>
              <a:rPr b="1" lang="en-US" sz="4400" spc="-1" strike="noStrike">
                <a:solidFill>
                  <a:srgbClr val="16a34a"/>
                </a:solidFill>
                <a:latin typeface="Helvetica Neue"/>
              </a:rPr>
              <a:t>Send decisions.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8" name="TextBox 2"/>
          <p:cNvSpPr/>
          <p:nvPr/>
        </p:nvSpPr>
        <p:spPr>
          <a:xfrm>
            <a:off x="1097280" y="4297680"/>
            <a:ext cx="9993240" cy="759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0" lang="en-US" sz="2200" spc="-1" strike="noStrike">
                <a:solidFill>
                  <a:srgbClr val="64748b"/>
                </a:solidFill>
                <a:latin typeface="Helvetica Neue"/>
              </a:rPr>
              <a:t>100 bytes per event instead of 150 KB per frame.  Two orders of magnitude.</a:t>
            </a:r>
            <a:endParaRPr b="0" lang="en-US" sz="2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TextBox 1"/>
          <p:cNvSpPr/>
          <p:nvPr/>
        </p:nvSpPr>
        <p:spPr>
          <a:xfrm>
            <a:off x="731520" y="365760"/>
            <a:ext cx="10724760" cy="54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3000" spc="-1" strike="noStrike">
                <a:solidFill>
                  <a:srgbClr val="0f172a"/>
                </a:solidFill>
                <a:latin typeface="Helvetica Neue"/>
              </a:rPr>
              <a:t>Pipeline Overview</a:t>
            </a:r>
            <a:endParaRPr b="0" lang="en-US" sz="3000" spc="-1" strike="noStrike">
              <a:solidFill>
                <a:srgbClr val="000000"/>
              </a:solidFill>
              <a:latin typeface="Arial"/>
            </a:endParaRPr>
          </a:p>
        </p:txBody>
      </p:sp>
      <p:cxnSp>
        <p:nvCxnSpPr>
          <p:cNvPr id="60" name="Connector 2"/>
          <p:cNvCxnSpPr/>
          <p:nvPr/>
        </p:nvCxnSpPr>
        <p:spPr>
          <a:xfrm>
            <a:off x="731520" y="1188720"/>
            <a:ext cx="10726920" cy="1080"/>
          </a:xfrm>
          <a:prstGeom prst="straightConnector1">
            <a:avLst/>
          </a:prstGeom>
          <a:ln w="0">
            <a:solidFill>
              <a:srgbClr val="4f81bd"/>
            </a:solidFill>
          </a:ln>
        </p:spPr>
      </p:cxnSp>
      <p:sp>
        <p:nvSpPr>
          <p:cNvPr id="61" name="TextBox 3"/>
          <p:cNvSpPr/>
          <p:nvPr/>
        </p:nvSpPr>
        <p:spPr>
          <a:xfrm>
            <a:off x="4834800" y="1325880"/>
            <a:ext cx="2490840" cy="2405160"/>
          </a:xfrm>
          <a:prstGeom prst="rect">
            <a:avLst/>
          </a:prstGeom>
          <a:solidFill>
            <a:srgbClr val="f1f5f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en-US" sz="1900" spc="-1" strike="noStrike">
                <a:solidFill>
                  <a:srgbClr val="075e85"/>
                </a:solidFill>
                <a:latin typeface="Courier New"/>
              </a:rPr>
              <a:t>Camera</a:t>
            </a:r>
            <a:endParaRPr b="0" lang="en-US" sz="1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900" spc="-1" strike="noStrike">
                <a:solidFill>
                  <a:srgbClr val="075e85"/>
                </a:solidFill>
                <a:latin typeface="Courier New"/>
              </a:rPr>
              <a:t>  </a:t>
            </a:r>
            <a:r>
              <a:rPr b="0" lang="en-US" sz="1900" spc="-1" strike="noStrike">
                <a:solidFill>
                  <a:srgbClr val="075e85"/>
                </a:solidFill>
                <a:latin typeface="Courier New"/>
              </a:rPr>
              <a:t>-&gt;  Frame Skip</a:t>
            </a:r>
            <a:endParaRPr b="0" lang="en-US" sz="1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900" spc="-1" strike="noStrike">
                <a:solidFill>
                  <a:srgbClr val="075e85"/>
                </a:solidFill>
                <a:latin typeface="Courier New"/>
              </a:rPr>
              <a:t>  </a:t>
            </a:r>
            <a:r>
              <a:rPr b="0" lang="en-US" sz="1900" spc="-1" strike="noStrike">
                <a:solidFill>
                  <a:srgbClr val="075e85"/>
                </a:solidFill>
                <a:latin typeface="Courier New"/>
              </a:rPr>
              <a:t>-&gt;  ROI Crop</a:t>
            </a:r>
            <a:endParaRPr b="0" lang="en-US" sz="1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900" spc="-1" strike="noStrike">
                <a:solidFill>
                  <a:srgbClr val="075e85"/>
                </a:solidFill>
                <a:latin typeface="Courier New"/>
              </a:rPr>
              <a:t>  </a:t>
            </a:r>
            <a:r>
              <a:rPr b="0" lang="en-US" sz="1900" spc="-1" strike="noStrike">
                <a:solidFill>
                  <a:srgbClr val="075e85"/>
                </a:solidFill>
                <a:latin typeface="Courier New"/>
              </a:rPr>
              <a:t>-&gt;  YOLO</a:t>
            </a:r>
            <a:endParaRPr b="0" lang="en-US" sz="1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900" spc="-1" strike="noStrike">
                <a:solidFill>
                  <a:srgbClr val="075e85"/>
                </a:solidFill>
                <a:latin typeface="Courier New"/>
              </a:rPr>
              <a:t>  </a:t>
            </a:r>
            <a:r>
              <a:rPr b="0" lang="en-US" sz="1900" spc="-1" strike="noStrike">
                <a:solidFill>
                  <a:srgbClr val="075e85"/>
                </a:solidFill>
                <a:latin typeface="Courier New"/>
              </a:rPr>
              <a:t>-&gt;  RabbitMQ</a:t>
            </a:r>
            <a:endParaRPr b="0" lang="en-US" sz="1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900" spc="-1" strike="noStrike">
                <a:solidFill>
                  <a:srgbClr val="075e85"/>
                </a:solidFill>
                <a:latin typeface="Courier New"/>
              </a:rPr>
              <a:t>  </a:t>
            </a:r>
            <a:r>
              <a:rPr b="0" lang="en-US" sz="1900" spc="-1" strike="noStrike">
                <a:solidFill>
                  <a:srgbClr val="075e85"/>
                </a:solidFill>
                <a:latin typeface="Courier New"/>
              </a:rPr>
              <a:t>-&gt;  .NET API</a:t>
            </a:r>
            <a:endParaRPr b="0" lang="en-US" sz="1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900" spc="-1" strike="noStrike">
                <a:solidFill>
                  <a:srgbClr val="075e85"/>
                </a:solidFill>
                <a:latin typeface="Courier New"/>
              </a:rPr>
              <a:t>  </a:t>
            </a:r>
            <a:r>
              <a:rPr b="0" lang="en-US" sz="1900" spc="-1" strike="noStrike">
                <a:solidFill>
                  <a:srgbClr val="075e85"/>
                </a:solidFill>
                <a:latin typeface="Courier New"/>
              </a:rPr>
              <a:t>-&gt;  SSE</a:t>
            </a:r>
            <a:endParaRPr b="0" lang="en-US" sz="19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900" spc="-1" strike="noStrike">
                <a:solidFill>
                  <a:srgbClr val="075e85"/>
                </a:solidFill>
                <a:latin typeface="Courier New"/>
              </a:rPr>
              <a:t>  </a:t>
            </a:r>
            <a:r>
              <a:rPr b="0" lang="en-US" sz="1900" spc="-1" strike="noStrike">
                <a:solidFill>
                  <a:srgbClr val="075e85"/>
                </a:solidFill>
                <a:latin typeface="Courier New"/>
              </a:rPr>
              <a:t>-&gt;  Browser</a:t>
            </a:r>
            <a:endParaRPr b="0" lang="en-US" sz="1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2" name="TextBox 4"/>
          <p:cNvSpPr/>
          <p:nvPr/>
        </p:nvSpPr>
        <p:spPr>
          <a:xfrm>
            <a:off x="731520" y="5760720"/>
            <a:ext cx="10724760" cy="34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i="1" lang="en-US" sz="1700" spc="-1" strike="noStrike">
                <a:solidFill>
                  <a:srgbClr val="64748b"/>
                </a:solidFill>
                <a:latin typeface="Helvetica Neue"/>
              </a:rPr>
              <a:t>Each step reduces data volume before passing it to the next.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TextBox 1"/>
          <p:cNvSpPr/>
          <p:nvPr/>
        </p:nvSpPr>
        <p:spPr>
          <a:xfrm>
            <a:off x="1097280" y="2286000"/>
            <a:ext cx="9993240" cy="1430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4400" spc="-1" strike="noStrike">
                <a:solidFill>
                  <a:srgbClr val="0f172a"/>
                </a:solidFill>
                <a:latin typeface="Helvetica Neue"/>
              </a:rPr>
              <a:t>Processing runs on the edge device.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4" name="TextBox 2"/>
          <p:cNvSpPr/>
          <p:nvPr/>
        </p:nvSpPr>
        <p:spPr>
          <a:xfrm>
            <a:off x="1097280" y="4297680"/>
            <a:ext cx="9993240" cy="759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0" lang="en-US" sz="2200" spc="-1" strike="noStrike">
                <a:solidFill>
                  <a:srgbClr val="64748b"/>
                </a:solidFill>
                <a:latin typeface="Helvetica Neue"/>
              </a:rPr>
              <a:t>Server never sees a single video frame.  Only state change events arrive.</a:t>
            </a:r>
            <a:endParaRPr b="0" lang="en-US" sz="2200" spc="-1" strike="noStrike">
              <a:solidFill>
                <a:srgbClr val="000000"/>
              </a:solidFill>
              <a:latin typeface="Arial"/>
            </a:endParaRPr>
          </a:p>
          <a:p>
            <a:pPr algn="ctr" defTabSz="457200">
              <a:lnSpc>
                <a:spcPct val="100000"/>
              </a:lnSpc>
            </a:pPr>
            <a:r>
              <a:rPr b="0" lang="en-US" sz="2200" spc="-1" strike="noStrike">
                <a:solidFill>
                  <a:srgbClr val="64748b"/>
                </a:solidFill>
                <a:latin typeface="Helvetica Neue"/>
              </a:rPr>
              <a:t>Bandwidth, Latency, Privacy, Scale</a:t>
            </a:r>
            <a:endParaRPr b="0" lang="en-US" sz="2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TextBox 1"/>
          <p:cNvSpPr/>
          <p:nvPr/>
        </p:nvSpPr>
        <p:spPr>
          <a:xfrm>
            <a:off x="914400" y="731520"/>
            <a:ext cx="10359000" cy="45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0" lang="en-US" sz="2400" spc="-1" strike="noStrike">
                <a:solidFill>
                  <a:srgbClr val="64748b"/>
                </a:solidFill>
                <a:latin typeface="Helvetica Neue"/>
              </a:rPr>
              <a:t>of frames are skipped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6" name="TextBox 2"/>
          <p:cNvSpPr/>
          <p:nvPr/>
        </p:nvSpPr>
        <p:spPr>
          <a:xfrm>
            <a:off x="914400" y="1554480"/>
            <a:ext cx="10359000" cy="1766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11000" spc="-1" strike="noStrike">
                <a:solidFill>
                  <a:srgbClr val="d97706"/>
                </a:solidFill>
                <a:latin typeface="Helvetica Neue"/>
              </a:rPr>
              <a:t>4 out of 5</a:t>
            </a:r>
            <a:endParaRPr b="0" lang="en-US" sz="1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7" name="TextBox 3"/>
          <p:cNvSpPr/>
          <p:nvPr/>
        </p:nvSpPr>
        <p:spPr>
          <a:xfrm>
            <a:off x="914400" y="4572000"/>
            <a:ext cx="10359000" cy="759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0" lang="en-US" sz="2200" spc="-1" strike="noStrike">
                <a:solidFill>
                  <a:srgbClr val="64748b"/>
                </a:solidFill>
                <a:latin typeface="Helvetica Neue"/>
              </a:rPr>
              <a:t>Seat occupancy does not change in 300ms.  No meaningful information is lost.</a:t>
            </a:r>
            <a:endParaRPr b="0" lang="en-US" sz="2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TextBox 1"/>
          <p:cNvSpPr/>
          <p:nvPr/>
        </p:nvSpPr>
        <p:spPr>
          <a:xfrm>
            <a:off x="731520" y="457200"/>
            <a:ext cx="10724760" cy="63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3600" spc="-1" strike="noStrike">
                <a:solidFill>
                  <a:srgbClr val="0f172a"/>
                </a:solidFill>
                <a:latin typeface="Helvetica Neue"/>
              </a:rPr>
              <a:t>ROI: Region of Interest</a:t>
            </a:r>
            <a:endParaRPr b="0" lang="en-US" sz="3600" spc="-1" strike="noStrike">
              <a:solidFill>
                <a:srgbClr val="000000"/>
              </a:solidFill>
              <a:latin typeface="Arial"/>
            </a:endParaRPr>
          </a:p>
        </p:txBody>
      </p:sp>
      <p:cxnSp>
        <p:nvCxnSpPr>
          <p:cNvPr id="69" name="Connector 2"/>
          <p:cNvCxnSpPr/>
          <p:nvPr/>
        </p:nvCxnSpPr>
        <p:spPr>
          <a:xfrm>
            <a:off x="731520" y="1463040"/>
            <a:ext cx="10726920" cy="1080"/>
          </a:xfrm>
          <a:prstGeom prst="straightConnector1">
            <a:avLst/>
          </a:prstGeom>
          <a:ln w="0">
            <a:solidFill>
              <a:srgbClr val="4f81bd"/>
            </a:solidFill>
          </a:ln>
        </p:spPr>
      </p:cxnSp>
      <p:sp>
        <p:nvSpPr>
          <p:cNvPr id="70" name="TextBox 3"/>
          <p:cNvSpPr/>
          <p:nvPr/>
        </p:nvSpPr>
        <p:spPr>
          <a:xfrm>
            <a:off x="731520" y="1645920"/>
            <a:ext cx="10724760" cy="2191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en-US" sz="2300" spc="-1" strike="noStrike">
                <a:solidFill>
                  <a:srgbClr val="64748b"/>
                </a:solidFill>
                <a:latin typeface="Helvetica Neue"/>
              </a:rPr>
              <a:t>Each seat has a bounding box defined in config.json.</a:t>
            </a:r>
            <a:endParaRPr b="0" lang="en-US" sz="2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2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2300" spc="-1" strike="noStrike">
                <a:solidFill>
                  <a:srgbClr val="64748b"/>
                </a:solidFill>
                <a:latin typeface="Helvetica Neue"/>
              </a:rPr>
              <a:t>Before running YOLO, the frame is cropped to that region only.</a:t>
            </a:r>
            <a:endParaRPr b="0" lang="en-US" sz="2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2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2300" spc="-1" strike="noStrike">
                <a:solidFill>
                  <a:srgbClr val="64748b"/>
                </a:solidFill>
                <a:latin typeface="Helvetica Neue"/>
              </a:rPr>
              <a:t>Result: YOLO processes a small patch, not the full 1080p image.</a:t>
            </a:r>
            <a:endParaRPr b="0" lang="en-US" sz="23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2300" spc="-1" strike="noStrike">
                <a:solidFill>
                  <a:srgbClr val="64748b"/>
                </a:solidFill>
                <a:latin typeface="Helvetica Neue"/>
              </a:rPr>
              <a:t>Inference is faster. False positives from outside the seat are eliminated.</a:t>
            </a:r>
            <a:endParaRPr b="0" lang="en-US" sz="23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TextBox 1"/>
          <p:cNvSpPr/>
          <p:nvPr/>
        </p:nvSpPr>
        <p:spPr>
          <a:xfrm>
            <a:off x="731520" y="365760"/>
            <a:ext cx="10724760" cy="54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3000" spc="-1" strike="noStrike">
                <a:solidFill>
                  <a:srgbClr val="0f172a"/>
                </a:solidFill>
                <a:latin typeface="Helvetica Neue"/>
              </a:rPr>
              <a:t>Change-Only Publish</a:t>
            </a:r>
            <a:endParaRPr b="0" lang="en-US" sz="3000" spc="-1" strike="noStrike">
              <a:solidFill>
                <a:srgbClr val="000000"/>
              </a:solidFill>
              <a:latin typeface="Arial"/>
            </a:endParaRPr>
          </a:p>
        </p:txBody>
      </p:sp>
      <p:cxnSp>
        <p:nvCxnSpPr>
          <p:cNvPr id="72" name="Connector 2"/>
          <p:cNvCxnSpPr/>
          <p:nvPr/>
        </p:nvCxnSpPr>
        <p:spPr>
          <a:xfrm>
            <a:off x="731520" y="1188720"/>
            <a:ext cx="10726920" cy="1080"/>
          </a:xfrm>
          <a:prstGeom prst="straightConnector1">
            <a:avLst/>
          </a:prstGeom>
          <a:ln w="0">
            <a:solidFill>
              <a:srgbClr val="4f81bd"/>
            </a:solidFill>
          </a:ln>
        </p:spPr>
      </p:cxnSp>
      <p:sp>
        <p:nvSpPr>
          <p:cNvPr id="73" name="TextBox 3"/>
          <p:cNvSpPr/>
          <p:nvPr/>
        </p:nvSpPr>
        <p:spPr>
          <a:xfrm>
            <a:off x="3606480" y="1325880"/>
            <a:ext cx="4947480" cy="1247400"/>
          </a:xfrm>
          <a:prstGeom prst="rect">
            <a:avLst/>
          </a:prstGeom>
          <a:solidFill>
            <a:srgbClr val="f1f5f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en-US" sz="1900" spc="-1" strike="noStrike">
                <a:solidFill>
                  <a:srgbClr val="075e85"/>
                </a:solidFill>
                <a:latin typeface="Courier New"/>
              </a:rPr>
              <a:t>free      -&gt;  occupied    publish</a:t>
            </a:r>
            <a:endParaRPr b="0" lang="en-US" sz="1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900" spc="-1" strike="noStrike">
                <a:solidFill>
                  <a:srgbClr val="075e85"/>
                </a:solidFill>
                <a:latin typeface="Courier New"/>
              </a:rPr>
              <a:t>occupied  -&gt;  free        publish</a:t>
            </a:r>
            <a:endParaRPr b="0" lang="en-US" sz="1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900" spc="-1" strike="noStrike">
                <a:solidFill>
                  <a:srgbClr val="075e85"/>
                </a:solidFill>
                <a:latin typeface="Courier New"/>
              </a:rPr>
              <a:t>occupied  -&gt;  occupied    skip</a:t>
            </a:r>
            <a:endParaRPr b="0" lang="en-US" sz="19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900" spc="-1" strike="noStrike">
                <a:solidFill>
                  <a:srgbClr val="075e85"/>
                </a:solidFill>
                <a:latin typeface="Courier New"/>
              </a:rPr>
              <a:t>free      -&gt;  free        skip</a:t>
            </a:r>
            <a:endParaRPr b="0" lang="en-US" sz="1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4" name="TextBox 4"/>
          <p:cNvSpPr/>
          <p:nvPr/>
        </p:nvSpPr>
        <p:spPr>
          <a:xfrm>
            <a:off x="731520" y="5760720"/>
            <a:ext cx="10724760" cy="34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i="1" lang="en-US" sz="1700" spc="-1" strike="noStrike">
                <a:solidFill>
                  <a:srgbClr val="64748b"/>
                </a:solidFill>
                <a:latin typeface="Helvetica Neue"/>
              </a:rPr>
              <a:t>An event is sent only when the status changes.  The queue stays clean.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TextBox 1"/>
          <p:cNvSpPr/>
          <p:nvPr/>
        </p:nvSpPr>
        <p:spPr>
          <a:xfrm>
            <a:off x="731520" y="365760"/>
            <a:ext cx="10724760" cy="54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3000" spc="-1" strike="noStrike">
                <a:solidFill>
                  <a:srgbClr val="0f172a"/>
                </a:solidFill>
                <a:latin typeface="Helvetica Neue"/>
              </a:rPr>
              <a:t>Why Python + .NET?</a:t>
            </a:r>
            <a:endParaRPr b="0" lang="en-US" sz="3000" spc="-1" strike="noStrike">
              <a:solidFill>
                <a:srgbClr val="000000"/>
              </a:solidFill>
              <a:latin typeface="Arial"/>
            </a:endParaRPr>
          </a:p>
        </p:txBody>
      </p:sp>
      <p:cxnSp>
        <p:nvCxnSpPr>
          <p:cNvPr id="76" name="Connector 2"/>
          <p:cNvCxnSpPr/>
          <p:nvPr/>
        </p:nvCxnSpPr>
        <p:spPr>
          <a:xfrm>
            <a:off x="731520" y="1234440"/>
            <a:ext cx="10726920" cy="1080"/>
          </a:xfrm>
          <a:prstGeom prst="straightConnector1">
            <a:avLst/>
          </a:prstGeom>
          <a:ln w="0">
            <a:solidFill>
              <a:srgbClr val="4f81bd"/>
            </a:solidFill>
          </a:ln>
        </p:spPr>
      </p:cxnSp>
      <p:sp>
        <p:nvSpPr>
          <p:cNvPr id="77" name="TextBox 3"/>
          <p:cNvSpPr/>
          <p:nvPr/>
        </p:nvSpPr>
        <p:spPr>
          <a:xfrm>
            <a:off x="731520" y="1371600"/>
            <a:ext cx="5028120" cy="45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400" spc="-1" strike="noStrike">
                <a:solidFill>
                  <a:srgbClr val="0284c7"/>
                </a:solidFill>
                <a:latin typeface="Helvetica Neue"/>
              </a:rPr>
              <a:t>Python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8" name="TextBox 4"/>
          <p:cNvSpPr/>
          <p:nvPr/>
        </p:nvSpPr>
        <p:spPr>
          <a:xfrm>
            <a:off x="6400800" y="1371600"/>
            <a:ext cx="5028120" cy="45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400" spc="-1" strike="noStrike">
                <a:solidFill>
                  <a:srgbClr val="0284c7"/>
                </a:solidFill>
                <a:latin typeface="Helvetica Neue"/>
              </a:rPr>
              <a:t>.NET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9" name="TextBox 5"/>
          <p:cNvSpPr/>
          <p:nvPr/>
        </p:nvSpPr>
        <p:spPr>
          <a:xfrm>
            <a:off x="731520" y="2194560"/>
            <a:ext cx="5028120" cy="39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2000" spc="-1" strike="noStrike">
                <a:solidFill>
                  <a:srgbClr val="64748b"/>
                </a:solidFill>
                <a:latin typeface="Helvetica Neue"/>
              </a:rPr>
              <a:t>OpenCV, Ultralytics YOLO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0" name="TextBox 6"/>
          <p:cNvSpPr/>
          <p:nvPr/>
        </p:nvSpPr>
        <p:spPr>
          <a:xfrm>
            <a:off x="731520" y="2971800"/>
            <a:ext cx="5028120" cy="39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2000" spc="-1" strike="noStrike">
                <a:solidFill>
                  <a:srgbClr val="64748b"/>
                </a:solidFill>
                <a:latin typeface="Helvetica Neue"/>
              </a:rPr>
              <a:t>The CV/ML ecosystem lives here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1" name="TextBox 7"/>
          <p:cNvSpPr/>
          <p:nvPr/>
        </p:nvSpPr>
        <p:spPr>
          <a:xfrm>
            <a:off x="731520" y="3749040"/>
            <a:ext cx="5028120" cy="699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2000" spc="-1" strike="noStrike">
                <a:solidFill>
                  <a:srgbClr val="64748b"/>
                </a:solidFill>
                <a:latin typeface="Helvetica Neue"/>
              </a:rPr>
              <a:t>Multiprocessing: one process per camera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2" name="TextBox 8"/>
          <p:cNvSpPr/>
          <p:nvPr/>
        </p:nvSpPr>
        <p:spPr>
          <a:xfrm>
            <a:off x="731520" y="4526280"/>
            <a:ext cx="5028120" cy="39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2000" spc="-1" strike="noStrike">
                <a:solidFill>
                  <a:srgbClr val="64748b"/>
                </a:solidFill>
                <a:latin typeface="Helvetica Neue"/>
              </a:rPr>
              <a:t>Bypasses GIL, true parallelism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3" name="TextBox 9"/>
          <p:cNvSpPr/>
          <p:nvPr/>
        </p:nvSpPr>
        <p:spPr>
          <a:xfrm>
            <a:off x="6400800" y="2194560"/>
            <a:ext cx="5028120" cy="39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2000" spc="-1" strike="noStrike">
                <a:solidFill>
                  <a:srgbClr val="64748b"/>
                </a:solidFill>
                <a:latin typeface="Helvetica Neue"/>
              </a:rPr>
              <a:t>High-concurrency async/await runtime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4" name="TextBox 10"/>
          <p:cNvSpPr/>
          <p:nvPr/>
        </p:nvSpPr>
        <p:spPr>
          <a:xfrm>
            <a:off x="6400800" y="2971800"/>
            <a:ext cx="5028120" cy="699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2000" spc="-1" strike="noStrike">
                <a:solidFill>
                  <a:srgbClr val="64748b"/>
                </a:solidFill>
                <a:latin typeface="Helvetica Neue"/>
              </a:rPr>
              <a:t>BackgroundService for queue consumption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5" name="TextBox 11"/>
          <p:cNvSpPr/>
          <p:nvPr/>
        </p:nvSpPr>
        <p:spPr>
          <a:xfrm>
            <a:off x="6400800" y="3749040"/>
            <a:ext cx="5028120" cy="39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2000" spc="-1" strike="noStrike">
                <a:solidFill>
                  <a:srgbClr val="64748b"/>
                </a:solidFill>
                <a:latin typeface="Helvetica Neue"/>
              </a:rPr>
              <a:t>Channel&lt;T&gt;: built-in async message bus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6" name="TextBox 12"/>
          <p:cNvSpPr/>
          <p:nvPr/>
        </p:nvSpPr>
        <p:spPr>
          <a:xfrm>
            <a:off x="6400800" y="4526280"/>
            <a:ext cx="5028120" cy="39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2000" spc="-1" strike="noStrike">
                <a:solidFill>
                  <a:srgbClr val="64748b"/>
                </a:solidFill>
                <a:latin typeface="Helvetica Neue"/>
              </a:rPr>
              <a:t>Strongly typed, fast System.Text.Json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TextBox 1"/>
          <p:cNvSpPr/>
          <p:nvPr/>
        </p:nvSpPr>
        <p:spPr>
          <a:xfrm>
            <a:off x="1097280" y="2286000"/>
            <a:ext cx="9993240" cy="1430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1" lang="en-US" sz="4400" spc="-1" strike="noStrike">
                <a:solidFill>
                  <a:srgbClr val="0f172a"/>
                </a:solidFill>
                <a:latin typeface="Helvetica Neue"/>
              </a:rPr>
              <a:t>RabbitMQ sits between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  <a:p>
            <a:pPr algn="ctr" defTabSz="457200">
              <a:lnSpc>
                <a:spcPct val="100000"/>
              </a:lnSpc>
            </a:pPr>
            <a:r>
              <a:rPr b="1" lang="en-US" sz="4400" spc="-1" strike="noStrike">
                <a:solidFill>
                  <a:srgbClr val="0f172a"/>
                </a:solidFill>
                <a:latin typeface="Helvetica Neue"/>
              </a:rPr>
              <a:t>producer and consumer.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8" name="TextBox 2"/>
          <p:cNvSpPr/>
          <p:nvPr/>
        </p:nvSpPr>
        <p:spPr>
          <a:xfrm>
            <a:off x="1097280" y="4297680"/>
            <a:ext cx="9993240" cy="424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0" lang="en-US" sz="2200" spc="-1" strike="noStrike">
                <a:solidFill>
                  <a:srgbClr val="64748b"/>
                </a:solidFill>
                <a:latin typeface="Helvetica Neue"/>
              </a:rPr>
              <a:t>Producer does not know who reads.  Consumer does not know who wrote.</a:t>
            </a:r>
            <a:endParaRPr b="0" lang="en-US" sz="2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TextBox 1"/>
          <p:cNvSpPr/>
          <p:nvPr/>
        </p:nvSpPr>
        <p:spPr>
          <a:xfrm>
            <a:off x="457200" y="274320"/>
            <a:ext cx="11273400" cy="54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3000" spc="-1" strike="noStrike">
                <a:solidFill>
                  <a:srgbClr val="0f172a"/>
                </a:solidFill>
                <a:latin typeface="Helvetica Neue"/>
              </a:rPr>
              <a:t>Why RabbitMQ and not Kafka or Redis?</a:t>
            </a:r>
            <a:endParaRPr b="0" lang="en-US" sz="3000" spc="-1" strike="noStrike">
              <a:solidFill>
                <a:srgbClr val="000000"/>
              </a:solidFill>
              <a:latin typeface="Arial"/>
            </a:endParaRPr>
          </a:p>
        </p:txBody>
      </p:sp>
      <p:cxnSp>
        <p:nvCxnSpPr>
          <p:cNvPr id="90" name="Connector 2"/>
          <p:cNvCxnSpPr/>
          <p:nvPr/>
        </p:nvCxnSpPr>
        <p:spPr>
          <a:xfrm>
            <a:off x="731520" y="1097280"/>
            <a:ext cx="10726920" cy="1080"/>
          </a:xfrm>
          <a:prstGeom prst="straightConnector1">
            <a:avLst/>
          </a:prstGeom>
          <a:ln w="0">
            <a:solidFill>
              <a:srgbClr val="4f81bd"/>
            </a:solidFill>
          </a:ln>
        </p:spPr>
      </p:cxnSp>
      <p:sp>
        <p:nvSpPr>
          <p:cNvPr id="91" name="TextBox 3"/>
          <p:cNvSpPr/>
          <p:nvPr/>
        </p:nvSpPr>
        <p:spPr>
          <a:xfrm>
            <a:off x="640080" y="1188720"/>
            <a:ext cx="2696400" cy="593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2" name="TextBox 4"/>
          <p:cNvSpPr/>
          <p:nvPr/>
        </p:nvSpPr>
        <p:spPr>
          <a:xfrm>
            <a:off x="3337560" y="1188720"/>
            <a:ext cx="2696400" cy="34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1700" spc="-1" strike="noStrike">
                <a:solidFill>
                  <a:srgbClr val="0284c7"/>
                </a:solidFill>
                <a:latin typeface="Helvetica Neue"/>
              </a:rPr>
              <a:t>RabbitMQ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3" name="TextBox 5"/>
          <p:cNvSpPr/>
          <p:nvPr/>
        </p:nvSpPr>
        <p:spPr>
          <a:xfrm>
            <a:off x="6035040" y="1188720"/>
            <a:ext cx="2696400" cy="34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1700" spc="-1" strike="noStrike">
                <a:solidFill>
                  <a:srgbClr val="0284c7"/>
                </a:solidFill>
                <a:latin typeface="Helvetica Neue"/>
              </a:rPr>
              <a:t>Kafka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4" name="TextBox 6"/>
          <p:cNvSpPr/>
          <p:nvPr/>
        </p:nvSpPr>
        <p:spPr>
          <a:xfrm>
            <a:off x="8732520" y="1188720"/>
            <a:ext cx="2696400" cy="34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1700" spc="-1" strike="noStrike">
                <a:solidFill>
                  <a:srgbClr val="0284c7"/>
                </a:solidFill>
                <a:latin typeface="Helvetica Neue"/>
              </a:rPr>
              <a:t>Redis Pub/Sub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5" name="TextBox 7"/>
          <p:cNvSpPr/>
          <p:nvPr/>
        </p:nvSpPr>
        <p:spPr>
          <a:xfrm>
            <a:off x="640080" y="1920240"/>
            <a:ext cx="2696400" cy="34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0" lang="en-US" sz="1700" spc="-1" strike="noStrike">
                <a:solidFill>
                  <a:srgbClr val="0f172a"/>
                </a:solidFill>
                <a:latin typeface="Helvetica Neue"/>
              </a:rPr>
              <a:t>Message durability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6" name="TextBox 8"/>
          <p:cNvSpPr/>
          <p:nvPr/>
        </p:nvSpPr>
        <p:spPr>
          <a:xfrm>
            <a:off x="3337560" y="1920240"/>
            <a:ext cx="2696400" cy="34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0" lang="en-US" sz="1700" spc="-1" strike="noStrike">
                <a:solidFill>
                  <a:srgbClr val="16a34a"/>
                </a:solidFill>
                <a:latin typeface="Helvetica Neue"/>
              </a:rPr>
              <a:t>✓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7" name="TextBox 9"/>
          <p:cNvSpPr/>
          <p:nvPr/>
        </p:nvSpPr>
        <p:spPr>
          <a:xfrm>
            <a:off x="6035040" y="1920240"/>
            <a:ext cx="2696400" cy="34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0" lang="en-US" sz="1700" spc="-1" strike="noStrike">
                <a:solidFill>
                  <a:srgbClr val="16a34a"/>
                </a:solidFill>
                <a:latin typeface="Helvetica Neue"/>
              </a:rPr>
              <a:t>✓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8" name="TextBox 10"/>
          <p:cNvSpPr/>
          <p:nvPr/>
        </p:nvSpPr>
        <p:spPr>
          <a:xfrm>
            <a:off x="8732520" y="1920240"/>
            <a:ext cx="2696400" cy="34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0" lang="en-US" sz="1700" spc="-1" strike="noStrike">
                <a:solidFill>
                  <a:srgbClr val="dc2626"/>
                </a:solidFill>
                <a:latin typeface="Helvetica Neue"/>
              </a:rPr>
              <a:t>✗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9" name="TextBox 11"/>
          <p:cNvSpPr/>
          <p:nvPr/>
        </p:nvSpPr>
        <p:spPr>
          <a:xfrm>
            <a:off x="640080" y="2743200"/>
            <a:ext cx="2696400" cy="34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0" lang="en-US" sz="1700" spc="-1" strike="noStrike">
                <a:solidFill>
                  <a:srgbClr val="0f172a"/>
                </a:solidFill>
                <a:latin typeface="Helvetica Neue"/>
              </a:rPr>
              <a:t>Simple setup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0" name="TextBox 12"/>
          <p:cNvSpPr/>
          <p:nvPr/>
        </p:nvSpPr>
        <p:spPr>
          <a:xfrm>
            <a:off x="3337560" y="2743200"/>
            <a:ext cx="2696400" cy="34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0" lang="en-US" sz="1700" spc="-1" strike="noStrike">
                <a:solidFill>
                  <a:srgbClr val="16a34a"/>
                </a:solidFill>
                <a:latin typeface="Helvetica Neue"/>
              </a:rPr>
              <a:t>✓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1" name="TextBox 13"/>
          <p:cNvSpPr/>
          <p:nvPr/>
        </p:nvSpPr>
        <p:spPr>
          <a:xfrm>
            <a:off x="6035040" y="2743200"/>
            <a:ext cx="2696400" cy="34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0" lang="en-US" sz="1700" spc="-1" strike="noStrike">
                <a:solidFill>
                  <a:srgbClr val="dc2626"/>
                </a:solidFill>
                <a:latin typeface="Helvetica Neue"/>
              </a:rPr>
              <a:t>✗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2" name="TextBox 14"/>
          <p:cNvSpPr/>
          <p:nvPr/>
        </p:nvSpPr>
        <p:spPr>
          <a:xfrm>
            <a:off x="8732520" y="2743200"/>
            <a:ext cx="2696400" cy="34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0" lang="en-US" sz="1700" spc="-1" strike="noStrike">
                <a:solidFill>
                  <a:srgbClr val="16a34a"/>
                </a:solidFill>
                <a:latin typeface="Helvetica Neue"/>
              </a:rPr>
              <a:t>✓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3" name="TextBox 15"/>
          <p:cNvSpPr/>
          <p:nvPr/>
        </p:nvSpPr>
        <p:spPr>
          <a:xfrm>
            <a:off x="640080" y="3566160"/>
            <a:ext cx="2696400" cy="34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0" lang="en-US" sz="1700" spc="-1" strike="noStrike">
                <a:solidFill>
                  <a:srgbClr val="0f172a"/>
                </a:solidFill>
                <a:latin typeface="Helvetica Neue"/>
              </a:rPr>
              <a:t>Message replay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4" name="TextBox 16"/>
          <p:cNvSpPr/>
          <p:nvPr/>
        </p:nvSpPr>
        <p:spPr>
          <a:xfrm>
            <a:off x="3337560" y="3566160"/>
            <a:ext cx="2696400" cy="34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0" lang="en-US" sz="1700" spc="-1" strike="noStrike">
                <a:solidFill>
                  <a:srgbClr val="dc2626"/>
                </a:solidFill>
                <a:latin typeface="Helvetica Neue"/>
              </a:rPr>
              <a:t>✗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5" name="TextBox 17"/>
          <p:cNvSpPr/>
          <p:nvPr/>
        </p:nvSpPr>
        <p:spPr>
          <a:xfrm>
            <a:off x="6035040" y="3566160"/>
            <a:ext cx="2696400" cy="34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0" lang="en-US" sz="1700" spc="-1" strike="noStrike">
                <a:solidFill>
                  <a:srgbClr val="16a34a"/>
                </a:solidFill>
                <a:latin typeface="Helvetica Neue"/>
              </a:rPr>
              <a:t>✓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6" name="TextBox 18"/>
          <p:cNvSpPr/>
          <p:nvPr/>
        </p:nvSpPr>
        <p:spPr>
          <a:xfrm>
            <a:off x="8732520" y="3566160"/>
            <a:ext cx="2696400" cy="34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0" lang="en-US" sz="1700" spc="-1" strike="noStrike">
                <a:solidFill>
                  <a:srgbClr val="dc2626"/>
                </a:solidFill>
                <a:latin typeface="Helvetica Neue"/>
              </a:rPr>
              <a:t>✗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7" name="TextBox 19"/>
          <p:cNvSpPr/>
          <p:nvPr/>
        </p:nvSpPr>
        <p:spPr>
          <a:xfrm>
            <a:off x="640080" y="4389120"/>
            <a:ext cx="2696400" cy="34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0" lang="en-US" sz="1700" spc="-1" strike="noStrike">
                <a:solidFill>
                  <a:srgbClr val="0f172a"/>
                </a:solidFill>
                <a:latin typeface="Helvetica Neue"/>
              </a:rPr>
              <a:t>Fit for our use case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8" name="TextBox 20"/>
          <p:cNvSpPr/>
          <p:nvPr/>
        </p:nvSpPr>
        <p:spPr>
          <a:xfrm>
            <a:off x="3337560" y="4389120"/>
            <a:ext cx="2696400" cy="34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0" lang="en-US" sz="1700" spc="-1" strike="noStrike">
                <a:solidFill>
                  <a:srgbClr val="16a34a"/>
                </a:solidFill>
                <a:latin typeface="Helvetica Neue"/>
              </a:rPr>
              <a:t>✓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9" name="TextBox 21"/>
          <p:cNvSpPr/>
          <p:nvPr/>
        </p:nvSpPr>
        <p:spPr>
          <a:xfrm>
            <a:off x="6035040" y="4389120"/>
            <a:ext cx="2696400" cy="34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0" lang="en-US" sz="1700" spc="-1" strike="noStrike">
                <a:solidFill>
                  <a:srgbClr val="64748b"/>
                </a:solidFill>
                <a:latin typeface="Helvetica Neue"/>
              </a:rPr>
              <a:t>overkill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0" name="TextBox 22"/>
          <p:cNvSpPr/>
          <p:nvPr/>
        </p:nvSpPr>
        <p:spPr>
          <a:xfrm>
            <a:off x="8732520" y="4389120"/>
            <a:ext cx="2696400" cy="34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0" lang="en-US" sz="1700" spc="-1" strike="noStrike">
                <a:solidFill>
                  <a:srgbClr val="64748b"/>
                </a:solidFill>
                <a:latin typeface="Helvetica Neue"/>
              </a:rPr>
              <a:t>not durable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1" name="TextBox 23"/>
          <p:cNvSpPr/>
          <p:nvPr/>
        </p:nvSpPr>
        <p:spPr>
          <a:xfrm>
            <a:off x="640080" y="6035040"/>
            <a:ext cx="10971720" cy="333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i="1" lang="en-US" sz="1600" spc="-1" strike="noStrike">
                <a:solidFill>
                  <a:srgbClr val="cbd5e1"/>
                </a:solidFill>
                <a:latin typeface="Helvetica Neue"/>
              </a:rPr>
              <a:t>Kafka is designed for replay and stream processing at massive scale.  We need delivery guarantee, not replay.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TextBox 1"/>
          <p:cNvSpPr/>
          <p:nvPr/>
        </p:nvSpPr>
        <p:spPr>
          <a:xfrm>
            <a:off x="731520" y="365760"/>
            <a:ext cx="10724760" cy="54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3000" spc="-1" strike="noStrike">
                <a:solidFill>
                  <a:srgbClr val="0f172a"/>
                </a:solidFill>
                <a:latin typeface="Helvetica Neue"/>
              </a:rPr>
              <a:t>In-Process Message Bus: Channel&lt;T&gt;</a:t>
            </a:r>
            <a:endParaRPr b="0" lang="en-US" sz="3000" spc="-1" strike="noStrike">
              <a:solidFill>
                <a:srgbClr val="000000"/>
              </a:solidFill>
              <a:latin typeface="Arial"/>
            </a:endParaRPr>
          </a:p>
        </p:txBody>
      </p:sp>
      <p:cxnSp>
        <p:nvCxnSpPr>
          <p:cNvPr id="113" name="Connector 2"/>
          <p:cNvCxnSpPr/>
          <p:nvPr/>
        </p:nvCxnSpPr>
        <p:spPr>
          <a:xfrm>
            <a:off x="731520" y="1188720"/>
            <a:ext cx="10726920" cy="1080"/>
          </a:xfrm>
          <a:prstGeom prst="straightConnector1">
            <a:avLst/>
          </a:prstGeom>
          <a:ln w="0">
            <a:solidFill>
              <a:srgbClr val="4f81bd"/>
            </a:solidFill>
          </a:ln>
        </p:spPr>
      </p:cxnSp>
      <p:sp>
        <p:nvSpPr>
          <p:cNvPr id="114" name="TextBox 3"/>
          <p:cNvSpPr/>
          <p:nvPr/>
        </p:nvSpPr>
        <p:spPr>
          <a:xfrm>
            <a:off x="2956320" y="1325880"/>
            <a:ext cx="6247440" cy="1536840"/>
          </a:xfrm>
          <a:prstGeom prst="rect">
            <a:avLst/>
          </a:prstGeom>
          <a:solidFill>
            <a:srgbClr val="f1f5f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en-US" sz="1900" spc="-1" strike="noStrike">
                <a:solidFill>
                  <a:srgbClr val="075e85"/>
                </a:solidFill>
                <a:latin typeface="Courier New"/>
              </a:rPr>
              <a:t>RabbitMQ</a:t>
            </a:r>
            <a:endParaRPr b="0" lang="en-US" sz="1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900" spc="-1" strike="noStrike">
                <a:solidFill>
                  <a:srgbClr val="075e85"/>
                </a:solidFill>
                <a:latin typeface="Courier New"/>
              </a:rPr>
              <a:t>  </a:t>
            </a:r>
            <a:r>
              <a:rPr b="0" lang="en-US" sz="1900" spc="-1" strike="noStrike">
                <a:solidFill>
                  <a:srgbClr val="075e85"/>
                </a:solidFill>
                <a:latin typeface="Courier New"/>
              </a:rPr>
              <a:t>-&gt;  BackgroundService  (consumer thread)</a:t>
            </a:r>
            <a:endParaRPr b="0" lang="en-US" sz="1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900" spc="-1" strike="noStrike">
                <a:solidFill>
                  <a:srgbClr val="075e85"/>
                </a:solidFill>
                <a:latin typeface="Courier New"/>
              </a:rPr>
              <a:t>  </a:t>
            </a:r>
            <a:r>
              <a:rPr b="0" lang="en-US" sz="1900" spc="-1" strike="noStrike">
                <a:solidFill>
                  <a:srgbClr val="075e85"/>
                </a:solidFill>
                <a:latin typeface="Courier New"/>
              </a:rPr>
              <a:t>-&gt;  SeatEventBus.Publish()</a:t>
            </a:r>
            <a:endParaRPr b="0" lang="en-US" sz="1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900" spc="-1" strike="noStrike">
                <a:solidFill>
                  <a:srgbClr val="075e85"/>
                </a:solidFill>
                <a:latin typeface="Courier New"/>
              </a:rPr>
              <a:t>  </a:t>
            </a:r>
            <a:r>
              <a:rPr b="0" lang="en-US" sz="1900" spc="-1" strike="noStrike">
                <a:solidFill>
                  <a:srgbClr val="075e85"/>
                </a:solidFill>
                <a:latin typeface="Courier New"/>
              </a:rPr>
              <a:t>-&gt;  Channel&lt;T&gt;  per SSE connection</a:t>
            </a:r>
            <a:endParaRPr b="0" lang="en-US" sz="19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900" spc="-1" strike="noStrike">
                <a:solidFill>
                  <a:srgbClr val="075e85"/>
                </a:solidFill>
                <a:latin typeface="Courier New"/>
              </a:rPr>
              <a:t>  </a:t>
            </a:r>
            <a:r>
              <a:rPr b="0" lang="en-US" sz="1900" spc="-1" strike="noStrike">
                <a:solidFill>
                  <a:srgbClr val="075e85"/>
                </a:solidFill>
                <a:latin typeface="Courier New"/>
              </a:rPr>
              <a:t>-&gt;  Browser</a:t>
            </a:r>
            <a:endParaRPr b="0" lang="en-US" sz="1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5" name="TextBox 4"/>
          <p:cNvSpPr/>
          <p:nvPr/>
        </p:nvSpPr>
        <p:spPr>
          <a:xfrm>
            <a:off x="731520" y="5760720"/>
            <a:ext cx="10724760" cy="34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i="1" lang="en-US" sz="1700" spc="-1" strike="noStrike">
                <a:solidFill>
                  <a:srgbClr val="64748b"/>
                </a:solidFill>
                <a:latin typeface="Helvetica Neue"/>
              </a:rPr>
              <a:t>Consumer thread writes.  HTTP request thread reads.  Channel&lt;T&gt; is the thread-safe bridge between them.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TextBox 1"/>
          <p:cNvSpPr/>
          <p:nvPr/>
        </p:nvSpPr>
        <p:spPr>
          <a:xfrm>
            <a:off x="731520" y="457200"/>
            <a:ext cx="10724760" cy="63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3600" spc="-1" strike="noStrike">
                <a:solidFill>
                  <a:srgbClr val="0f172a"/>
                </a:solidFill>
                <a:latin typeface="Helvetica Neue"/>
              </a:rPr>
              <a:t>Why Server-Sent Events?</a:t>
            </a:r>
            <a:endParaRPr b="0" lang="en-US" sz="3600" spc="-1" strike="noStrike">
              <a:solidFill>
                <a:srgbClr val="000000"/>
              </a:solidFill>
              <a:latin typeface="Arial"/>
            </a:endParaRPr>
          </a:p>
        </p:txBody>
      </p:sp>
      <p:cxnSp>
        <p:nvCxnSpPr>
          <p:cNvPr id="117" name="Connector 2"/>
          <p:cNvCxnSpPr/>
          <p:nvPr/>
        </p:nvCxnSpPr>
        <p:spPr>
          <a:xfrm>
            <a:off x="731520" y="1463040"/>
            <a:ext cx="10726920" cy="1080"/>
          </a:xfrm>
          <a:prstGeom prst="straightConnector1">
            <a:avLst/>
          </a:prstGeom>
          <a:ln w="0">
            <a:solidFill>
              <a:srgbClr val="4f81bd"/>
            </a:solidFill>
          </a:ln>
        </p:spPr>
      </p:cxnSp>
      <p:sp>
        <p:nvSpPr>
          <p:cNvPr id="118" name="TextBox 3"/>
          <p:cNvSpPr/>
          <p:nvPr/>
        </p:nvSpPr>
        <p:spPr>
          <a:xfrm>
            <a:off x="731520" y="1645920"/>
            <a:ext cx="10724760" cy="3106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en-US" sz="2200" spc="-1" strike="noStrike">
                <a:solidFill>
                  <a:srgbClr val="64748b"/>
                </a:solidFill>
                <a:latin typeface="Helvetica Neue"/>
              </a:rPr>
              <a:t>Our data flows in one direction only: server to browser.</a:t>
            </a:r>
            <a:endParaRPr b="0" lang="en-US" sz="22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22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2200" spc="-1" strike="noStrike">
                <a:solidFill>
                  <a:srgbClr val="64748b"/>
                </a:solidFill>
                <a:latin typeface="Helvetica Neue"/>
              </a:rPr>
              <a:t>SSE is built for exactly this.</a:t>
            </a:r>
            <a:endParaRPr b="0" lang="en-US" sz="22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22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2200" spc="-1" strike="noStrike">
                <a:solidFill>
                  <a:srgbClr val="64748b"/>
                </a:solidFill>
                <a:latin typeface="Helvetica Neue"/>
              </a:rPr>
              <a:t>The browser has native EventSource support.  No library needed.</a:t>
            </a:r>
            <a:endParaRPr b="0" lang="en-US" sz="22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2200" spc="-1" strike="noStrike">
                <a:solidFill>
                  <a:srgbClr val="64748b"/>
                </a:solidFill>
                <a:latin typeface="Helvetica Neue"/>
              </a:rPr>
              <a:t>Reconnects automatically if the connection drops.</a:t>
            </a:r>
            <a:endParaRPr b="0" lang="en-US" sz="22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22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2200" spc="-1" strike="noStrike">
                <a:solidFill>
                  <a:srgbClr val="64748b"/>
                </a:solidFill>
                <a:latin typeface="Helvetica Neue"/>
              </a:rPr>
              <a:t>SignalR and WebSocket add bidirectional protocol overhead we simply do not need.</a:t>
            </a:r>
            <a:endParaRPr b="0" lang="en-US" sz="2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TextBox 1"/>
          <p:cNvSpPr/>
          <p:nvPr/>
        </p:nvSpPr>
        <p:spPr>
          <a:xfrm>
            <a:off x="457200" y="274320"/>
            <a:ext cx="11273400" cy="54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3000" spc="-1" strike="noStrike">
                <a:solidFill>
                  <a:srgbClr val="0f172a"/>
                </a:solidFill>
                <a:latin typeface="Helvetica Neue"/>
              </a:rPr>
              <a:t>SSE vs Alternatives</a:t>
            </a:r>
            <a:endParaRPr b="0" lang="en-US" sz="3000" spc="-1" strike="noStrike">
              <a:solidFill>
                <a:srgbClr val="000000"/>
              </a:solidFill>
              <a:latin typeface="Arial"/>
            </a:endParaRPr>
          </a:p>
        </p:txBody>
      </p:sp>
      <p:cxnSp>
        <p:nvCxnSpPr>
          <p:cNvPr id="120" name="Connector 2"/>
          <p:cNvCxnSpPr/>
          <p:nvPr/>
        </p:nvCxnSpPr>
        <p:spPr>
          <a:xfrm>
            <a:off x="731520" y="1097280"/>
            <a:ext cx="10726920" cy="1080"/>
          </a:xfrm>
          <a:prstGeom prst="straightConnector1">
            <a:avLst/>
          </a:prstGeom>
          <a:ln w="0">
            <a:solidFill>
              <a:srgbClr val="4f81bd"/>
            </a:solidFill>
          </a:ln>
        </p:spPr>
      </p:cxnSp>
      <p:sp>
        <p:nvSpPr>
          <p:cNvPr id="121" name="TextBox 3"/>
          <p:cNvSpPr/>
          <p:nvPr/>
        </p:nvSpPr>
        <p:spPr>
          <a:xfrm>
            <a:off x="640080" y="1188720"/>
            <a:ext cx="2156760" cy="593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2" name="TextBox 4"/>
          <p:cNvSpPr/>
          <p:nvPr/>
        </p:nvSpPr>
        <p:spPr>
          <a:xfrm>
            <a:off x="2797920" y="1188720"/>
            <a:ext cx="2156760" cy="34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1700" spc="-1" strike="noStrike">
                <a:solidFill>
                  <a:srgbClr val="0284c7"/>
                </a:solidFill>
                <a:latin typeface="Helvetica Neue"/>
              </a:rPr>
              <a:t>Short Polling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3" name="TextBox 5"/>
          <p:cNvSpPr/>
          <p:nvPr/>
        </p:nvSpPr>
        <p:spPr>
          <a:xfrm>
            <a:off x="4956120" y="1188720"/>
            <a:ext cx="2156760" cy="34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1700" spc="-1" strike="noStrike">
                <a:solidFill>
                  <a:srgbClr val="0284c7"/>
                </a:solidFill>
                <a:latin typeface="Helvetica Neue"/>
              </a:rPr>
              <a:t>Long Polling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4" name="TextBox 6"/>
          <p:cNvSpPr/>
          <p:nvPr/>
        </p:nvSpPr>
        <p:spPr>
          <a:xfrm>
            <a:off x="7113960" y="1188720"/>
            <a:ext cx="2156760" cy="608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1700" spc="-1" strike="noStrike">
                <a:solidFill>
                  <a:srgbClr val="0284c7"/>
                </a:solidFill>
                <a:latin typeface="Helvetica Neue"/>
              </a:rPr>
              <a:t>WebSocket / SignalR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5" name="TextBox 7"/>
          <p:cNvSpPr/>
          <p:nvPr/>
        </p:nvSpPr>
        <p:spPr>
          <a:xfrm>
            <a:off x="9272160" y="1188720"/>
            <a:ext cx="2156760" cy="34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1700" spc="-1" strike="noStrike">
                <a:solidFill>
                  <a:srgbClr val="0284c7"/>
                </a:solidFill>
                <a:latin typeface="Helvetica Neue"/>
              </a:rPr>
              <a:t>SSE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6" name="TextBox 8"/>
          <p:cNvSpPr/>
          <p:nvPr/>
        </p:nvSpPr>
        <p:spPr>
          <a:xfrm>
            <a:off x="640080" y="1920240"/>
            <a:ext cx="2156760" cy="34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0" lang="en-US" sz="1700" spc="-1" strike="noStrike">
                <a:solidFill>
                  <a:srgbClr val="0f172a"/>
                </a:solidFill>
                <a:latin typeface="Helvetica Neue"/>
              </a:rPr>
              <a:t>Real-time push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7" name="TextBox 9"/>
          <p:cNvSpPr/>
          <p:nvPr/>
        </p:nvSpPr>
        <p:spPr>
          <a:xfrm>
            <a:off x="2797920" y="1920240"/>
            <a:ext cx="2156760" cy="34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0" lang="en-US" sz="1700" spc="-1" strike="noStrike">
                <a:solidFill>
                  <a:srgbClr val="dc2626"/>
                </a:solidFill>
                <a:latin typeface="Helvetica Neue"/>
              </a:rPr>
              <a:t>✗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8" name="TextBox 10"/>
          <p:cNvSpPr/>
          <p:nvPr/>
        </p:nvSpPr>
        <p:spPr>
          <a:xfrm>
            <a:off x="4956120" y="1920240"/>
            <a:ext cx="2156760" cy="34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0" lang="en-US" sz="1700" spc="-1" strike="noStrike">
                <a:solidFill>
                  <a:srgbClr val="64748b"/>
                </a:solidFill>
                <a:latin typeface="Helvetica Neue"/>
              </a:rPr>
              <a:t>partial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9" name="TextBox 11"/>
          <p:cNvSpPr/>
          <p:nvPr/>
        </p:nvSpPr>
        <p:spPr>
          <a:xfrm>
            <a:off x="7113960" y="1920240"/>
            <a:ext cx="2156760" cy="34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0" lang="en-US" sz="1700" spc="-1" strike="noStrike">
                <a:solidFill>
                  <a:srgbClr val="16a34a"/>
                </a:solidFill>
                <a:latin typeface="Helvetica Neue"/>
              </a:rPr>
              <a:t>✓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0" name="TextBox 12"/>
          <p:cNvSpPr/>
          <p:nvPr/>
        </p:nvSpPr>
        <p:spPr>
          <a:xfrm>
            <a:off x="9272160" y="1920240"/>
            <a:ext cx="2156760" cy="34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0" lang="en-US" sz="1700" spc="-1" strike="noStrike">
                <a:solidFill>
                  <a:srgbClr val="16a34a"/>
                </a:solidFill>
                <a:latin typeface="Helvetica Neue"/>
              </a:rPr>
              <a:t>✓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1" name="TextBox 13"/>
          <p:cNvSpPr/>
          <p:nvPr/>
        </p:nvSpPr>
        <p:spPr>
          <a:xfrm>
            <a:off x="640080" y="2743200"/>
            <a:ext cx="2156760" cy="34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0" lang="en-US" sz="1700" spc="-1" strike="noStrike">
                <a:solidFill>
                  <a:srgbClr val="0f172a"/>
                </a:solidFill>
                <a:latin typeface="Helvetica Neue"/>
              </a:rPr>
              <a:t>Two-way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2" name="TextBox 14"/>
          <p:cNvSpPr/>
          <p:nvPr/>
        </p:nvSpPr>
        <p:spPr>
          <a:xfrm>
            <a:off x="2797920" y="2743200"/>
            <a:ext cx="2156760" cy="34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0" lang="en-US" sz="1700" spc="-1" strike="noStrike">
                <a:solidFill>
                  <a:srgbClr val="16a34a"/>
                </a:solidFill>
                <a:latin typeface="Helvetica Neue"/>
              </a:rPr>
              <a:t>✓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3" name="TextBox 15"/>
          <p:cNvSpPr/>
          <p:nvPr/>
        </p:nvSpPr>
        <p:spPr>
          <a:xfrm>
            <a:off x="4956120" y="2743200"/>
            <a:ext cx="2156760" cy="34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0" lang="en-US" sz="1700" spc="-1" strike="noStrike">
                <a:solidFill>
                  <a:srgbClr val="16a34a"/>
                </a:solidFill>
                <a:latin typeface="Helvetica Neue"/>
              </a:rPr>
              <a:t>✓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4" name="TextBox 16"/>
          <p:cNvSpPr/>
          <p:nvPr/>
        </p:nvSpPr>
        <p:spPr>
          <a:xfrm>
            <a:off x="7113960" y="2743200"/>
            <a:ext cx="2156760" cy="34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0" lang="en-US" sz="1700" spc="-1" strike="noStrike">
                <a:solidFill>
                  <a:srgbClr val="16a34a"/>
                </a:solidFill>
                <a:latin typeface="Helvetica Neue"/>
              </a:rPr>
              <a:t>✓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5" name="TextBox 17"/>
          <p:cNvSpPr/>
          <p:nvPr/>
        </p:nvSpPr>
        <p:spPr>
          <a:xfrm>
            <a:off x="9272160" y="2743200"/>
            <a:ext cx="2156760" cy="34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0" lang="en-US" sz="1700" spc="-1" strike="noStrike">
                <a:solidFill>
                  <a:srgbClr val="dc2626"/>
                </a:solidFill>
                <a:latin typeface="Helvetica Neue"/>
              </a:rPr>
              <a:t>✗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6" name="TextBox 18"/>
          <p:cNvSpPr/>
          <p:nvPr/>
        </p:nvSpPr>
        <p:spPr>
          <a:xfrm>
            <a:off x="640080" y="3566160"/>
            <a:ext cx="2156760" cy="34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0" lang="en-US" sz="1700" spc="-1" strike="noStrike">
                <a:solidFill>
                  <a:srgbClr val="0f172a"/>
                </a:solidFill>
                <a:latin typeface="Helvetica Neue"/>
              </a:rPr>
              <a:t>Complexity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7" name="TextBox 19"/>
          <p:cNvSpPr/>
          <p:nvPr/>
        </p:nvSpPr>
        <p:spPr>
          <a:xfrm>
            <a:off x="2797920" y="3566160"/>
            <a:ext cx="2156760" cy="34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0" lang="en-US" sz="1700" spc="-1" strike="noStrike">
                <a:solidFill>
                  <a:srgbClr val="64748b"/>
                </a:solidFill>
                <a:latin typeface="Helvetica Neue"/>
              </a:rPr>
              <a:t>low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8" name="TextBox 20"/>
          <p:cNvSpPr/>
          <p:nvPr/>
        </p:nvSpPr>
        <p:spPr>
          <a:xfrm>
            <a:off x="4956120" y="3566160"/>
            <a:ext cx="2156760" cy="34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0" lang="en-US" sz="1700" spc="-1" strike="noStrike">
                <a:solidFill>
                  <a:srgbClr val="64748b"/>
                </a:solidFill>
                <a:latin typeface="Helvetica Neue"/>
              </a:rPr>
              <a:t>medium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9" name="TextBox 21"/>
          <p:cNvSpPr/>
          <p:nvPr/>
        </p:nvSpPr>
        <p:spPr>
          <a:xfrm>
            <a:off x="7113960" y="3566160"/>
            <a:ext cx="2156760" cy="34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0" lang="en-US" sz="1700" spc="-1" strike="noStrike">
                <a:solidFill>
                  <a:srgbClr val="64748b"/>
                </a:solidFill>
                <a:latin typeface="Helvetica Neue"/>
              </a:rPr>
              <a:t>high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0" name="TextBox 22"/>
          <p:cNvSpPr/>
          <p:nvPr/>
        </p:nvSpPr>
        <p:spPr>
          <a:xfrm>
            <a:off x="9272160" y="3566160"/>
            <a:ext cx="2156760" cy="34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0" lang="en-US" sz="1700" spc="-1" strike="noStrike">
                <a:solidFill>
                  <a:srgbClr val="64748b"/>
                </a:solidFill>
                <a:latin typeface="Helvetica Neue"/>
              </a:rPr>
              <a:t>low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1" name="TextBox 23"/>
          <p:cNvSpPr/>
          <p:nvPr/>
        </p:nvSpPr>
        <p:spPr>
          <a:xfrm>
            <a:off x="640080" y="4389120"/>
            <a:ext cx="2156760" cy="34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0" lang="en-US" sz="1700" spc="-1" strike="noStrike">
                <a:solidFill>
                  <a:srgbClr val="0f172a"/>
                </a:solidFill>
                <a:latin typeface="Helvetica Neue"/>
              </a:rPr>
              <a:t>Fits our need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2" name="TextBox 24"/>
          <p:cNvSpPr/>
          <p:nvPr/>
        </p:nvSpPr>
        <p:spPr>
          <a:xfrm>
            <a:off x="2797920" y="4389120"/>
            <a:ext cx="2156760" cy="34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0" lang="en-US" sz="1700" spc="-1" strike="noStrike">
                <a:solidFill>
                  <a:srgbClr val="dc2626"/>
                </a:solidFill>
                <a:latin typeface="Helvetica Neue"/>
              </a:rPr>
              <a:t>✗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3" name="TextBox 25"/>
          <p:cNvSpPr/>
          <p:nvPr/>
        </p:nvSpPr>
        <p:spPr>
          <a:xfrm>
            <a:off x="4956120" y="4389120"/>
            <a:ext cx="2156760" cy="34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0" lang="en-US" sz="1700" spc="-1" strike="noStrike">
                <a:solidFill>
                  <a:srgbClr val="dc2626"/>
                </a:solidFill>
                <a:latin typeface="Helvetica Neue"/>
              </a:rPr>
              <a:t>✗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4" name="TextBox 26"/>
          <p:cNvSpPr/>
          <p:nvPr/>
        </p:nvSpPr>
        <p:spPr>
          <a:xfrm>
            <a:off x="7113960" y="4389120"/>
            <a:ext cx="2156760" cy="34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0" lang="en-US" sz="1700" spc="-1" strike="noStrike">
                <a:solidFill>
                  <a:srgbClr val="64748b"/>
                </a:solidFill>
                <a:latin typeface="Helvetica Neue"/>
              </a:rPr>
              <a:t>overkill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5" name="TextBox 27"/>
          <p:cNvSpPr/>
          <p:nvPr/>
        </p:nvSpPr>
        <p:spPr>
          <a:xfrm>
            <a:off x="9272160" y="4389120"/>
            <a:ext cx="2156760" cy="34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0" lang="en-US" sz="1700" spc="-1" strike="noStrike">
                <a:solidFill>
                  <a:srgbClr val="16a34a"/>
                </a:solidFill>
                <a:latin typeface="Helvetica Neue"/>
              </a:rPr>
              <a:t>✓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6" name="TextBox 28"/>
          <p:cNvSpPr/>
          <p:nvPr/>
        </p:nvSpPr>
        <p:spPr>
          <a:xfrm>
            <a:off x="640080" y="6035040"/>
            <a:ext cx="10971720" cy="333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i="1" lang="en-US" sz="1600" spc="-1" strike="noStrike">
                <a:solidFill>
                  <a:srgbClr val="cbd5e1"/>
                </a:solidFill>
                <a:latin typeface="Helvetica Neue"/>
              </a:rPr>
              <a:t>Short polling wastes requests.  Long polling is fragile.  WebSocket is two-way by design.  SSE is the right tool.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TextBox 1"/>
          <p:cNvSpPr/>
          <p:nvPr/>
        </p:nvSpPr>
        <p:spPr>
          <a:xfrm>
            <a:off x="1097280" y="2286000"/>
            <a:ext cx="9993240" cy="759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4400" spc="-1" strike="noStrike">
                <a:solidFill>
                  <a:srgbClr val="16a34a"/>
                </a:solidFill>
                <a:latin typeface="Helvetica Neue"/>
              </a:rPr>
              <a:t>Demo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8" name="TextBox 2"/>
          <p:cNvSpPr/>
          <p:nvPr/>
        </p:nvSpPr>
        <p:spPr>
          <a:xfrm>
            <a:off x="1097280" y="4297680"/>
            <a:ext cx="9993240" cy="424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0" lang="en-US" sz="2200" spc="-1" strike="noStrike">
                <a:solidFill>
                  <a:srgbClr val="64748b"/>
                </a:solidFill>
                <a:latin typeface="Helvetica Neue"/>
              </a:rPr>
              <a:t>python main.py  -&gt;  RabbitMQ  -&gt;  dotnet run  -&gt;  localhost:5212</a:t>
            </a:r>
            <a:endParaRPr b="0" lang="en-US" sz="2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TextBox 1"/>
          <p:cNvSpPr/>
          <p:nvPr/>
        </p:nvSpPr>
        <p:spPr>
          <a:xfrm>
            <a:off x="914400" y="2011680"/>
            <a:ext cx="10359000" cy="882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5200" spc="-1" strike="noStrike">
                <a:solidFill>
                  <a:srgbClr val="0f172a"/>
                </a:solidFill>
                <a:latin typeface="Helvetica Neue"/>
              </a:rPr>
              <a:t>Questions.</a:t>
            </a:r>
            <a:endParaRPr b="0" lang="en-US" sz="5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0" name="TextBox 2"/>
          <p:cNvSpPr/>
          <p:nvPr/>
        </p:nvSpPr>
        <p:spPr>
          <a:xfrm>
            <a:off x="914400" y="4206240"/>
            <a:ext cx="10359000" cy="424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0" lang="en-US" sz="2200" spc="-1" strike="noStrike">
                <a:solidFill>
                  <a:srgbClr val="64748b"/>
                </a:solidFill>
                <a:latin typeface="Helvetica Neue"/>
              </a:rPr>
              <a:t>Thank you.</a:t>
            </a:r>
            <a:endParaRPr b="0" lang="en-US" sz="2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5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6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7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8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9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0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280</TotalTime>
  <Application>LibreOffice/24.2.7.2$Linux_X86_64 LibreOffice_project/420$Build-2</Application>
  <AppVersion>15.0000</AppVersion>
  <Words>0</Words>
  <Paragraphs>0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2013-01-27T09:14:16Z</dcterms:created>
  <dc:creator/>
  <dc:description>generated using python-pptx</dc:description>
  <dc:language>en-US</dc:language>
  <cp:lastModifiedBy/>
  <dcterms:modified xsi:type="dcterms:W3CDTF">2026-04-29T15:06:37Z</dcterms:modified>
  <cp:revision>11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On-screen Show (4:3)</vt:lpwstr>
  </property>
</Properties>
</file>